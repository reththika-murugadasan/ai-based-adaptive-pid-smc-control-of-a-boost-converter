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5ba57f-0e87-be2a-02c2-e10373a2ff53}">
          <p14:sldIdLst>
            <p14:sldId id="256"/>
            <p14:sldId id="257"/>
            <p14:sldId id="258"/>
            <p14:sldId id="259"/>
          </p14:sldIdLst>
        </p14:section>
        <p14:section name="Baseline controllers" id="{284954b0-02b0-674b-2b8c-164b3ad3bf8e}">
          <p14:sldIdLst>
            <p14:sldId id="260"/>
            <p14:sldId id="261"/>
            <p14:sldId id="262"/>
            <p14:sldId id="263"/>
          </p14:sldIdLst>
        </p14:section>
        <p14:section name="Reinforcement learning" id="{c62d077a-469b-0d13-0ed7-df1e144d5854}">
          <p14:sldIdLst>
            <p14:sldId id="264"/>
            <p14:sldId id="265"/>
            <p14:sldId id="266"/>
            <p14:sldId id="267"/>
            <p14:sldId id="268"/>
          </p14:sldIdLst>
        </p14:section>
        <p14:section name="Results" id="{3629b648-dbb7-af1b-1688-824f3274ce51}">
          <p14:sldIdLst>
            <p14:sldId id="269"/>
            <p14:sldId id="270"/>
            <p14:sldId id="271"/>
            <p14:sldId id="272"/>
            <p14:sldId id="273"/>
          </p14:sldIdLst>
        </p14:section>
        <p14:section name="Wrap-up" id="{2bda9ae4-c368-839a-46e9-67e305a2bd02}">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2B"/>
                </a:solidFill>
                <a:latin typeface="+mn-lt"/>
              </a:defRPr>
            </a:pPr>
            <a:r>
              <a:rPr sz="1400" b="0" i="0" u="none" strike="noStrike">
                <a:solidFill>
                  <a:srgbClr val="14232B"/>
                </a:solidFill>
                <a:latin typeface="+mn-lt"/>
              </a:rPr>
              <a:t>Maximum deviation after the disturbance (V)</a:t>
            </a:r>
          </a:p>
        </c:rich>
      </c:tx>
      <c:layout/>
      <c:overlay val="0"/>
    </c:title>
    <c:autoTitleDeleted val="0"/>
    <c:plotArea>
      <c:layout/>
      <c:barChart>
        <c:barDir val="col"/>
        <c:grouping val="clustered"/>
        <c:varyColors val="0"/>
        <c:ser>
          <c:idx val="0"/>
          <c:order val="0"/>
          <c:tx>
            <c:strRef>
              <c:f>Sheet1!$B$1</c:f>
              <c:strCache>
                <c:ptCount val="1"/>
                <c:pt idx="0">
                  <c:v>Fixed PID</c:v>
                </c:pt>
              </c:strCache>
            </c:strRef>
          </c:tx>
          <c:spPr>
            <a:solidFill>
              <a:srgbClr val="0072B2"/>
            </a:solidFill>
            <a:effectLst/>
          </c:spPr>
          <c:invertIfNegative val="0"/>
          <c:dLbls>
            <c:numFmt formatCode="0.00" sourceLinked="0"/>
            <c:txPr>
              <a:bodyPr/>
              <a:lstStyle/>
              <a:p>
                <a:pPr>
                  <a:defRPr b="0" i="0" strike="noStrike" sz="1100" u="none">
                    <a:solidFill>
                      <a:srgbClr val="14232B"/>
                    </a:solidFill>
                    <a:latin typeface="+mn-lt"/>
                  </a:defRPr>
                </a:pPr>
              </a:p>
            </c:txPr>
            <c:showLegendKey val="0"/>
            <c:showVal val="1"/>
            <c:showCatName val="0"/>
            <c:showSerName val="0"/>
            <c:showPercent val="0"/>
            <c:showBubbleSize val="0"/>
            <c:showLeaderLines val="0"/>
          </c:dLbls>
          <c:cat>
            <c:multiLvlStrRef>
              <c:f>Sheet1!$A$2:$A$5</c:f>
              <c:multiLvlStrCache>
                <c:ptCount val="4"/>
                <c:lvl>
                  <c:pt idx="0">
                    <c:v>Vin 12→10 V</c:v>
                  </c:pt>
                  <c:pt idx="1">
                    <c:v>Vin 12→14 V</c:v>
                  </c:pt>
                  <c:pt idx="2">
                    <c:v>R 20→10 Ω</c:v>
                  </c:pt>
                  <c:pt idx="3">
                    <c:v>R 20→30 Ω</c:v>
                  </c:pt>
                </c:lvl>
              </c:multiLvlStrCache>
            </c:multiLvlStrRef>
          </c:cat>
          <c:val>
            <c:numRef>
              <c:f>Sheet1!$B$2:$B$5</c:f>
              <c:numCache>
                <c:formatCode>General</c:formatCode>
                <c:ptCount val="4"/>
                <c:pt idx="0">
                  <c:v>3.4</c:v>
                </c:pt>
                <c:pt idx="1">
                  <c:v>3</c:v>
                </c:pt>
                <c:pt idx="2">
                  <c:v>1.94</c:v>
                </c:pt>
                <c:pt idx="3">
                  <c:v>0.64</c:v>
                </c:pt>
              </c:numCache>
            </c:numRef>
          </c:val>
        </c:ser>
        <c:ser>
          <c:idx val="1"/>
          <c:order val="1"/>
          <c:tx>
            <c:strRef>
              <c:f>Sheet1!$C$1</c:f>
              <c:strCache>
                <c:ptCount val="1"/>
                <c:pt idx="0">
                  <c:v>Fixed SMC</c:v>
                </c:pt>
              </c:strCache>
            </c:strRef>
          </c:tx>
          <c:spPr>
            <a:solidFill>
              <a:srgbClr val="D55E00"/>
            </a:solidFill>
            <a:effectLst/>
          </c:spPr>
          <c:invertIfNegative val="0"/>
          <c:dLbls>
            <c:numFmt formatCode="0.00" sourceLinked="0"/>
            <c:txPr>
              <a:bodyPr/>
              <a:lstStyle/>
              <a:p>
                <a:pPr>
                  <a:defRPr b="0" i="0" strike="noStrike" sz="1100" u="none">
                    <a:solidFill>
                      <a:srgbClr val="14232B"/>
                    </a:solidFill>
                    <a:latin typeface="+mn-lt"/>
                  </a:defRPr>
                </a:pPr>
              </a:p>
            </c:txPr>
            <c:showLegendKey val="0"/>
            <c:showVal val="1"/>
            <c:showCatName val="0"/>
            <c:showSerName val="0"/>
            <c:showPercent val="0"/>
            <c:showBubbleSize val="0"/>
            <c:showLeaderLines val="0"/>
          </c:dLbls>
          <c:cat>
            <c:multiLvlStrRef>
              <c:f>Sheet1!$A$2:$A$5</c:f>
              <c:multiLvlStrCache>
                <c:ptCount val="4"/>
                <c:lvl>
                  <c:pt idx="0">
                    <c:v>Vin 12→10 V</c:v>
                  </c:pt>
                  <c:pt idx="1">
                    <c:v>Vin 12→14 V</c:v>
                  </c:pt>
                  <c:pt idx="2">
                    <c:v>R 20→10 Ω</c:v>
                  </c:pt>
                  <c:pt idx="3">
                    <c:v>R 20→30 Ω</c:v>
                  </c:pt>
                </c:lvl>
              </c:multiLvlStrCache>
            </c:multiLvlStrRef>
          </c:cat>
          <c:val>
            <c:numRef>
              <c:f>Sheet1!$C$2:$C$5</c:f>
              <c:numCache>
                <c:formatCode>General</c:formatCode>
                <c:ptCount val="4"/>
                <c:pt idx="0">
                  <c:v>0.65</c:v>
                </c:pt>
                <c:pt idx="1">
                  <c:v>0.56</c:v>
                </c:pt>
                <c:pt idx="2">
                  <c:v>2.09</c:v>
                </c:pt>
                <c:pt idx="3">
                  <c:v>0.8</c:v>
                </c:pt>
              </c:numCache>
            </c:numRef>
          </c:val>
        </c:ser>
        <c:dLbls>
          <c:numFmt formatCode="0.00" sourceLinked="0"/>
          <c:txPr>
            <a:bodyPr/>
            <a:lstStyle/>
            <a:p>
              <a:pPr>
                <a:defRPr b="0" i="0" strike="noStrike" sz="1100" u="none">
                  <a:solidFill>
                    <a:srgbClr val="1423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32B"/>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D5DE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32B"/>
                </a:solidFill>
                <a:latin typeface="+mn-lt"/>
              </a:defRPr>
            </a:pPr>
            <a:r>
              <a:rPr sz="1300" b="0" i="0" u="none" strike="noStrike">
                <a:solidFill>
                  <a:srgbClr val="14232B"/>
                </a:solidFill>
                <a:latin typeface="+mn-lt"/>
              </a:rPr>
              <a:t>Worst-case phase margin over 27 operating points (deg)</a:t>
            </a:r>
          </a:p>
        </c:rich>
      </c:tx>
      <c:layout/>
      <c:overlay val="0"/>
    </c:title>
    <c:autoTitleDeleted val="0"/>
    <c:plotArea>
      <c:layout/>
      <c:barChart>
        <c:barDir val="col"/>
        <c:grouping val="clustered"/>
        <c:varyColors val="0"/>
        <c:ser>
          <c:idx val="0"/>
          <c:order val="0"/>
          <c:tx>
            <c:strRef>
              <c:f>Sheet1!$B$1</c:f>
              <c:strCache>
                <c:ptCount val="1"/>
                <c:pt idx="0">
                  <c:v>Worst-case phase margin (deg)</c:v>
                </c:pt>
              </c:strCache>
            </c:strRef>
          </c:tx>
          <c:spPr>
            <a:solidFill>
              <a:srgbClr val="0E7C86"/>
            </a:solidFill>
            <a:effectLst/>
          </c:spPr>
          <c:invertIfNegative val="0"/>
          <c:dLbls>
            <c:numFmt formatCode="0.0" sourceLinked="0"/>
            <c:txPr>
              <a:bodyPr/>
              <a:lstStyle/>
              <a:p>
                <a:pPr>
                  <a:defRPr b="0" i="0" strike="noStrike" sz="1000" u="none">
                    <a:solidFill>
                      <a:srgbClr val="14232B"/>
                    </a:solidFill>
                    <a:latin typeface="+mn-lt"/>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0E7C86"/>
              </a:solidFill>
              <a:effectLst/>
            </c:spPr>
          </c:dPt>
          <c:dPt>
            <c:idx val="2"/>
            <c:invertIfNegative val="0"/>
            <c:bubble3D val="0"/>
            <c:spPr>
              <a:solidFill>
                <a:srgbClr val="C8553D"/>
              </a:solidFill>
              <a:effectLst/>
            </c:spPr>
          </c:dPt>
          <c:dPt>
            <c:idx val="3"/>
            <c:invertIfNegative val="0"/>
            <c:bubble3D val="0"/>
            <c:spPr>
              <a:solidFill>
                <a:srgbClr val="0E7C86"/>
              </a:solidFill>
              <a:effectLst/>
            </c:spPr>
          </c:dPt>
          <c:dPt>
            <c:idx val="4"/>
            <c:invertIfNegative val="0"/>
            <c:bubble3D val="0"/>
            <c:spPr>
              <a:solidFill>
                <a:srgbClr val="C8553D"/>
              </a:solidFill>
              <a:effectLst/>
            </c:spPr>
          </c:dPt>
          <c:dPt>
            <c:idx val="5"/>
            <c:invertIfNegative val="0"/>
            <c:bubble3D val="0"/>
            <c:spPr>
              <a:solidFill>
                <a:srgbClr val="0E7C86"/>
              </a:solidFill>
              <a:effectLst/>
            </c:spPr>
          </c:dPt>
          <c:dPt>
            <c:idx val="6"/>
            <c:invertIfNegative val="0"/>
            <c:bubble3D val="0"/>
            <c:spPr>
              <a:solidFill>
                <a:srgbClr val="C8553D"/>
              </a:solidFill>
              <a:effectLst/>
            </c:spPr>
          </c:dPt>
          <c:dPt>
            <c:idx val="7"/>
            <c:invertIfNegative val="0"/>
            <c:bubble3D val="0"/>
            <c:spPr>
              <a:solidFill>
                <a:srgbClr val="C8553D"/>
              </a:solidFill>
              <a:effectLst/>
            </c:spPr>
          </c:dPt>
          <c:dPt>
            <c:idx val="8"/>
            <c:invertIfNegative val="0"/>
            <c:bubble3D val="0"/>
            <c:spPr>
              <a:solidFill>
                <a:srgbClr val="0E7C86"/>
              </a:solidFill>
              <a:effectLst/>
            </c:spPr>
          </c:dPt>
          <c:cat>
            <c:multiLvlStrRef>
              <c:f>Sheet1!$A$2:$A$10</c:f>
              <c:multiLvlStrCache>
                <c:ptCount val="9"/>
                <c:lvl>
                  <c:pt idx="0">
                    <c:v>Baseline</c:v>
                  </c:pt>
                  <c:pt idx="1">
                    <c:v>Ki ×1.5</c:v>
                  </c:pt>
                  <c:pt idx="2">
                    <c:v>Ki ×2</c:v>
                  </c:pt>
                  <c:pt idx="3">
                    <c:v>Kd ×0.7</c:v>
                  </c:pt>
                  <c:pt idx="4">
                    <c:v>Kd ×0.5</c:v>
                  </c:pt>
                  <c:pt idx="5">
                    <c:v>All ±25 %</c:v>
                  </c:pt>
                  <c:pt idx="6">
                    <c:v>All ±50 %</c:v>
                  </c:pt>
                  <c:pt idx="7">
                    <c:v>All ×2</c:v>
                  </c:pt>
                  <c:pt idx="8">
                    <c:v>Certified box</c:v>
                  </c:pt>
                </c:lvl>
              </c:multiLvlStrCache>
            </c:multiLvlStrRef>
          </c:cat>
          <c:val>
            <c:numRef>
              <c:f>Sheet1!$B$2:$B$10</c:f>
              <c:numCache>
                <c:formatCode>General</c:formatCode>
                <c:ptCount val="9"/>
                <c:pt idx="0">
                  <c:v>56.5</c:v>
                </c:pt>
                <c:pt idx="1">
                  <c:v>18.2</c:v>
                </c:pt>
                <c:pt idx="2">
                  <c:v>-24.3</c:v>
                </c:pt>
                <c:pt idx="3">
                  <c:v>19.6</c:v>
                </c:pt>
                <c:pt idx="4">
                  <c:v>-13.7</c:v>
                </c:pt>
                <c:pt idx="5">
                  <c:v>3.8</c:v>
                </c:pt>
                <c:pt idx="6">
                  <c:v>-41.2</c:v>
                </c:pt>
                <c:pt idx="7">
                  <c:v>-72.6</c:v>
                </c:pt>
                <c:pt idx="8">
                  <c:v>40.3</c:v>
                </c:pt>
              </c:numCache>
            </c:numRef>
          </c:val>
        </c:ser>
        <c:dLbls>
          <c:numFmt formatCode="0.0" sourceLinked="0"/>
          <c:txPr>
            <a:bodyPr/>
            <a:lstStyle/>
            <a:p>
              <a:pPr>
                <a:defRPr b="0" i="0" strike="noStrike" sz="1000" u="none">
                  <a:solidFill>
                    <a:srgbClr val="1423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4232B"/>
                </a:solidFill>
                <a:latin typeface="+mn-lt"/>
              </a:defRPr>
            </a:pPr>
            <a:endParaRPr lang="en-US"/>
          </a:p>
        </c:txPr>
        <c:crossAx val="2094734552"/>
        <c:crosses val="autoZero"/>
        <c:auto val="1"/>
        <c:lblAlgn val="ctr"/>
        <c:noMultiLvlLbl val="1"/>
      </c:catAx>
      <c:valAx>
        <c:axId val="2094734552"/>
        <c:scaling>
          <c:orientation val="minMax"/>
          <c:max val="70"/>
          <c:min val="-90"/>
        </c:scaling>
        <c:delete val="0"/>
        <c:axPos val="l"/>
        <c:majorGridlines>
          <c:spPr>
            <a:ln w="6350" cap="flat">
              <a:solidFill>
                <a:srgbClr val="D5DE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Say what the project is in one sentence: we regulate the output voltage of a boost converter, and we ask whether reinforcement learning can improve two classic controllers (PID and sliding-mode) without being allowed to make the circuit unsafe. Name the five controllers on the chips: two fixed baselines, and three that use reinforcement learning.
No demo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(about 2 minutes). A boost converter raises 12 V to 24 V by switching 20,000 times a second; the controller's only knob is the duty cycle.
Three reasons it is a good control problem: (1) the input voltage and the load change, so a fixed duty gives the wrong output; (2) the inductor-capacitor pair is very lightly damped (damping ratio about 0.07), so it rings for tens of milliseconds; (3) it is non-minimum phase: raising the duty first LOWERS the output for a moment (right-half-plane zero). That limits any controller's speed and it is also why the textbook sliding-mode design fails later.
Then state the research question on the right.
SHOW: nothing in code yet. If asked for the numbers: damping ratio and zero come from the linearised model in experiments/tune_pid.py (plant_tf).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(about 2 minutes). Two state variables: inductor current IL and output voltage Vout. We use the standard averaged model, where the fast switching is replaced by its average over one cycle, which depends only on the duty cycle D.
Ideal steady state: Vout = Vin / (1 - D), so 12 V to 24 V needs D = 0.5 and an average inductor current of 2.4 A.
Three modelling points to mention: the CCM equations are linear for a held duty, so each 50 microsecond step is solved EXACTLY with a matrix exponential; the diode blocks reverse current, so a separate DCM model is used when the inductor current would reach zero; the step equals one switching period.
SHOW (code): converter/boost_converter.py lines 117-150 (_ccm_step matrix exponential, _dcm_step, _substep mode logic) and config.py for the parameter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(about 2 minutes). Before any controller existed the simulator was checked against theory and against an independent switch-level simulation (ideal switch and ideal diode, event accurate).
Key story: the first version used only the CCM equations and let the inductor current go NEGATIVE (down to -4.26 A) in the startup transient; a real diode blocks that. Adding the DCM model fixed it: the minimum current is now 0 A. Cycle-averaged results then match the switching reference to 0.013 V RMS.
The grey curves in the figure are the old model, the dashed black the switching reference, blue the final model; orange shading marks when DCM is active.
The large open-loop overshoot is NOT a bug: it is the lightly damped resonance of a lossless circuit.
RUN (live, about 15 s): python run_converter_validation.py  -&gt; expect 'RESULT: PASS'.
SHOW: validation/switched_reference.py (the ground-truth simulator) and results/figures/stage1b_open_loop_validation.png.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SETUP (about 2 minutes). Walk the loop left to right: reference 24 V, error = Vref - Vout, controller, converter, measured output fed back. Disturbances (input-voltage and load steps) hit the converter without the controller causing them. The controller runs every 50 microseconds (discrete time).
Every experiment is a cold start (output and current zero), regulation at 24 V, then ONE disturbance at 150 ms, 300 ms total. Five scenarios: nominal, Vin 12 to 10 V, Vin 12 to 14 V, R 20 to 10 ohm, R 20 to 30 ohm.
Explain each metric chip in one phrase. Stress that no single score is computed: the metrics are reported side by side.
SHOW (code): analysis/metrics.py (settling_time line 36, overshoot_pct line 50, recovery_time line 90) and config.py PID_SCENARIOS.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(about 2 minutes). D = Kp e + Ki integral(e) + Kd de/dt. Explain the three terms in one line each. Implementation points: anti-windup (back-calculation plus a clamp), derivative on the measurement with a 100 microsecond filter, integral stored in duty units so changing Ki never makes the output jump, and NO constant bias: an early version with a 0.5 duty bias gave 43.5 percent overshoot.
Tuning was not guessed: linearise the plant (RHP zero near 5000 rad/s caps bandwidth), robust search on 27 operating points for at least 45 degrees phase margin and 6 dB gain margin, then a time-domain refinement on the five scenarios.
Result: Kp 0.0049154, Ki 6.6994, Kd 2.7364e-5; worst-case margins 56.5 degrees and 6.0 dB; settling 11.5 ms, ~0 percent overshoot. Point out the dip to about 18.6 V in the plot: it is the diode pre-charge surge, not poor tuning.
SHOW (code): controllers/pid.py update() lines 55-81 (anti-windup at lines 77-79); experiments/tune_pid.py (plant_tf line 36, design_cost line 100).
RUN (live, a few seconds): python experiments/run_pid.py  -&gt; prints the metric table and writes results/figures/pid_*.png.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SMC (about 3 minutes, the most interesting derivation). Idea: define a surface s that is zero when the system is where we want it, then push s to zero with a strong, sign-correct correction; a boundary layer (saturation instead of sign) removes chattering.
Key result: the textbook surface s = de/dt + lambda*e built from voltage only does NOT work on this circuit. Because of the right-half-plane zero, forcing it to zero hides unstable inductor-current dynamics: in simulation Vout collapses to 12.6 V when 26 V is requested (experiments/smc_naive_check.py).
So the surface is placed on the inductor current: s = IL - Iref with Iref = clip(Kv e + Ki integral(e), 0, Imax). Control law: D = (1 - Vin_nominal / Vout) - K sat(s/phi). The 12 V input is the NOMINAL value, not measured, so input steps are real disturbances.
Parameters: Kv 0.656, Ki 164.7, K 0.3, phi 0.8 A, Imax 10 A. Fairness note: the SMC senses current and the PID does not.
RUN (live, a few seconds): python experiments/smc_naive_check.py  -&gt; prints the failure. Then python experiments/run_smc.py.
SHOW (code): controllers/smc.py header docstring (the derivation), update() lines 90-110; experiments/smc_naive_check.py.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COMPARISON (about 2 minutes). Left: peak voltage deviation after each disturbance. The SMC is far better on input-voltage steps (0.65 V and 0.56 V against 3.40 V and 3.00 V), while on load steps the two are similar and the PID is slightly smaller (1.94 against 2.09 V and 0.64 against 0.80 V).
Right: SMC settles in 2.9 ms against 11.5 ms and its startup dip is 2.07 V against 5.40 V. Be honest about fairness: the SMC measures inductor current and its law encodes the boost structure, the PID uses only Vout, so part of the SMC advantage is extra information.
SHOW: results/figures/pid_vs_smc.png (side-by-side waveforms) and results/pid_metrics.csv / results/smc_metrics.csv.
RUN (live): python experiments/run_smc.py prints the full PID-versus-SMC comparison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RL SETUP (about 2.5 minutes). The environment is a standard Gymnasium environment wrapped around the validated simulator. One agent step holds the duty for 4 converter steps (200 microseconds).
Observation: five numbers, each normalised so they are order 1 (error/10 V, change of error, integral of error clamped, Vout/24, IL/10). The agent does NOT see Vin or R.
Action: a number in -1..1 mapped to duty 0.05..0.95 (a = 0 gives D = 0.5).
Reward: sum of tracking error (with a square-root part so small offsets still cost), an extra overshoot penalty, a duty-smoothness penalty, a precision bonus near zero error, an alive bonus, and a one-off -50 on a protection trip.
Training uses RANDOM conditions (Vin 10-14, R 10-30, Vref 20-28, random disturbances), never the five test scenarios. Safety stops end an episode if Vout &gt; 60 V or IL &gt; 30 A.
SHOW (code): environment/boost_env.py reward_terms() line 62, action_to_duty() line 53, step() line 261 (safety stops lines 286-295), _random_disturbance() line 182.
RUN (live, about 5 s): python environment/check_boost_env.py -&gt; 'ENVIRONMENT CHECK: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TD3 (about 2 minutes). TD3 is an actor-critic method for continuous actions: an actor network maps observation to action, critic networks score the action; it learns off-policy from a replay buffer so it needs fewer simulator steps. Three tricks make it stable: twin critics (use the smaller estimate to avoid over-optimism), delayed actor updates (update the actor once per two critic updates), and target-policy smoothing (noise in the learning target).
The network is small on purpose (two hidden layers of 64) because the plant is second order. Hyper-parameters are in config.py and are the same for all three RL controllers. Training length: 200,000 steps, seeds 0, 1 and 2, nine runs, 19 minutes total with three in parallel.
Be clear about the limit: a trained network has no stability guarantee and different seeds give different networks; that is why the adaptive variants add safety layers.
SHOW (code): training/train_td3.py lines 104-118 (the TD3(...) call with every hyper-parameter) and config.py TD3_* block.
RUN (optional, about 8 s): python experiments/run_td3.py --mode both --timesteps 5000 --name td3_demo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ARCHITECTURES (about 2 minutes). Row 1, direct TD3: the network outputs the duty cycle itself. It is the least constrained, so it shows the risks of unconstrained learning.
Row 2, adaptive PID: the network only outputs three numbers that are mapped (relative, logarithmic, zero = baseline) to Kp, Ki, Kd inside a certified box and smoothed; the unchanged baseline PID produces the duty. A zero action reproduces the baseline PID exactly (verified bit for bit).
Row 3, adaptive SMC: same idea with four parameters Kv, Ki, K and phi; the SMC law is unchanged.
In rows 2 and 3 a supervisor can take over at any time (next slide).
SHOW (code): controllers/adaptive_pid.py target_gains() line 101 and _move_toward() line 127; controllers/adaptive_smc.py clamp_params() line 117 and target_params() line 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(about 3 minutes, an important slide). The baseline PID sits in a narrow stable region. The bar chart shows the worst-case phase margin over 27 operating points when gains are scaled: Ki x1.5 leaves only 18 degrees, Ki x2 and Kd x0.5 are unstable, and moving all three gains together is far worse (plus or minus 25 percent gives 3.8 degrees, plus or minus 50 percent gives -41 degrees). So a naive wide range for the network is unsafe.
A first version with a wider box let the agent drive Ki to its floor and settling slowed from 11.5 to 37 ms. The final box (Kp x0.7-1.5, Ki x0.7-1.05, Kd x0.9-1.2) was found by search so that EVERY gain combination keeps at least 40 degrees and 4 dB on every operating point (40.3 degrees, 4.2 dB measured).
Other layers: clamp every proposal, smooth with at most 5 percent change per 200 microseconds, and a recovery supervisor that returns the gains to baseline when the error stays above 2.5 V for 8 ms, IL exceeds 12 A or Vout exceeds 1.15 Vref. The adaptive SMC bounds were checked the same way by simulating 1,296 parameter/operating-point combinations.
This is evidence on a linearised model over a grid, not a proof for every situation.
RUN (about 40 s): python experiments/analyze_gain_bounds.py (prints the margin sweeps).
SHOW (code): experiments/analyze_gain_bounds.py worst_margins() line 20 and search_tight_box() line 97; controllers/adaptive_pid.py _supervise() line 150; experiments/analyze_smc_bounds.py judge() line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LESSON (about 2 minutes). Before long training the reward function was tested with reference policies on identical episodes. The old reward ranked a weak 5,000-step policy ABOVE the PID (+38.0 against +26.5) even though its final error was 0.48 V against 0.001 V and its duty moved 3.5 times more. Reasons: tracking cost was linear so small offsets were nearly free, duty smoothness was nearly free, and tripping could cost less than surviving a bad episode.
The redesigned reward (square-root tracking, a precision bonus, a stronger smoothness penalty, an alive bonus and a -50 trip penalty) ranks the PID first (+499.7) and random last (+51.9), with the same weak policy in between (+431.7).
Take-away: an RL agent optimises exactly what the reward measures, so a reward should be tested against reference policies first.
RUN (about 30 s): python experiments/reward_diagnostics.py --tag demo --models td3_smoke  (needs models/td3_smoke.zip). The saved results are results/reward_diag_v1_old_reward.csv and results/reward_diag_v2_new_reward.csv.
SHOW (code): environment/boost_env.py reward_terms() line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STUDY, TABLE (about 2 minutes). Each RL controller was trained for 200,000 steps with seeds 0, 1 and 2 (9 runs, 19 minutes) and evaluated deterministically on the five scenarios; RL cells are mean plus or minus sample standard deviation over seeds. Nothing is ranked.
Highlights to point at: direct TD3's cold-start RMSE is within 1 percent of the fixed SMC's (1.264 against 1.256 V), but its duty variation is about 38 times larger (and 25-70 times across scenarios); direct TD3 settling has a huge spread (11.2 +- 14 ms: seeds gave 3.0, 27.9 and 2.7 ms); the adaptive controllers stay close to their baselines; there were zero protection trips in all 55 evaluation runs.
OPEN (not run live): results/final/final_report.md (readable tables) and results/final/final_metrics_by_run.csv (the combined CSV, 55 rows).
If asked how it was produced: python experiments/train_final.py --tag final --jobs 3, then python experiments/final_evaluation.py --tag final. SHOW (code): experiments/final_evaluation.py collect() line 128, summarise() line 159, protection_trip() line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DISTURBANCES (about 2 minutes). Left panel: peak deviation after each of the four disturbances; right panel: time until the output stays within plus or minus 2 percent. Bars are means over seeds for the RL controllers, whiskers show min-max across seeds; a hatched bar means the output never came back to the band.
Objective reading: the fixed SMC and adaptive SMC are best on input-voltage steps among the fixed-structure controllers; direct TD3 has the smallest MEAN peak deviation in all four cases (on R 20 to 10 ohm, 1.85 V against 1.94 V for the PID, the margin is within its seed spread of +-0.21 V) but is slow to recover after that step (45-53 ms in two seeds, never in the third); adaptive PID and adaptive SMC stay within a few percent of their baselines. A recovery of 0 means the output never left the band.
Do not call a winner: three seeds and one configuration.
OPEN: results/final/figures/final_disturbance_recovery.png (and final_vout_tracking.png for the waveforms).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WAVEFORMS (about 2 minutes). Top row: the 40 ms after power-up for each scenario; bottom row: the window around the disturbance. Colours: fixed PID blue, fixed SMC vermillion, direct TD3 green, adaptive PID light blue dashed, adaptive SMC orange dashed; the RL curves are the mean over seeds with a min-max band.
Point out: every controller reaches 24 V; the PID variants dip to about 18.6 V after the first pass (diode pre-charge surge) while the SMC variants and direct TD3 hold the output tighter; after the disturbances the PID overshoots/undershoots the most; direct TD3 shows a slow drift after R 20 to 10 ohm.
OPEN: results/final/figures/final_vout_tracking.png. Optional extras: final_duty_cycle.png (shows direct TD3's intermittent duty oscillations) and final_inductor_current.png.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(about 2 minutes). These are the Kp, Ki and Kd trajectories for the three trained seeds in each scenario; the red dotted lines are the certified limits and the dashed black line is the baseline. The gains genuinely react to each disturbance and every seed learns a different policy. In one seed the gains oscillate persistently after the Vin 12 to 10 V step, but they never leave their bounds. The supervisor engaged once per run, during the cold start only. The adaptive SMC behaves similarly (see final_adaptive_smc_params.png); in the earlier 5,000-step smoke run it had output constant values, which did not recur after 200,000 steps.
OPEN: results/final/figures/final_adaptive_pid_gains.png and final_adaptive_smc_params.png.
SHOW (code, optional): controllers/adaptive_pid.py _supervise() line 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(about 2.5 minutes). Be balanced and specific. Shown: no controller is best on every metric; direct TD3 regulates tightly but moves its duty 25 to 70 times more than PID/SMC, with intermittent oscillations in some seeds and varies a lot across seeds; the adaptive controllers stay within a few percent of their baselines; zero protection trips in 55 evaluation runs.
Not shown: a winner (three seeds, one configuration, differences of a few percent are within the seed spread); hardware behaviour (the model is ideal and averaged: no ESR, no diode drop, no ripple, so the direct-TD3 duty oscillations could be a real problem for switches); stability proofs beyond the tested grids; and the SMC versus PID comparison is not like for like because the SMC senses current.
SHOW: results/final/final_report.md section 'protection trips and supervisor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(about 2 minutes). Conclusions: (1) a validated CCM/DCM simulator and two properly tuned baselines were built; (2) the textbook SMC surface fails on this non-minimum-phase plant, a current surface works; (3) reinforcement learning can tune the controllers inside certified bounds and with a supervisor, with zero protection trips, but the gains over the fixed controllers are small and mixed; (4) unconstrained direct TD3 regulates tightly but oscillates the duty cycle and varies across seeds.
Next steps: more seeds and longer training, a stronger duty-change penalty for direct TD3, add ESR/diode drop/inductor resistance and re-derive bounds, then hardware-in-the-loop.
Invite questions. Keep the appendix slide ready for 'how do I reproduce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(backup). Everything runs from the folder adaptive_dc_dc_rl with the virtual environment active; all parameters are in config.py. The first three commands take seconds; the training command takes about 19 minutes (3 jobs in parallel); the evaluation takes about 40 s.
If a live demo fails, open the saved results instead: results/final/final_report.md and the figures in results/final/figures/.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7863840" cy="1920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640080" y="2834640"/>
            <a:ext cx="7863840" cy="5486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1000" dirty="0">
                <a:solidFill>
                  <a:schemeClr val="accent6"/>
                </a:solidFill>
              </a:rPr>
              <a:t>Control Systems project · Adaptive PID/SMC control of a boost converter</a:t>
            </a:r>
            <a:endParaRPr lang="en-US" sz="10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7863840" cy="1920240"/>
          </a:xfrm>
          <a:prstGeom prst="rect">
            <a:avLst/>
          </a:prstGeom>
          <a:noFill/>
          <a:ln/>
        </p:spPr>
        <p:txBody>
          <a:bodyPr wrap="square" lIns="0" tIns="0" rIns="0" bIns="0" rtlCol="0" anchor="ctr"/>
          <a:lstStyle/>
          <a:p>
            <a:pPr algn="l" indent="0" marL="0">
              <a:buNone/>
            </a:pPr>
            <a:r>
              <a:rPr lang="en-US" sz="3400" b="1" dirty="0">
                <a:solidFill>
                  <a:schemeClr val="bg1"/>
                </a:solidFill>
              </a:rPr>
              <a:t>Adaptive PID and Sliding-Mode Control of a DC-DC Boost Converter Using Reinforcement Learning</a:t>
            </a:r>
            <a:endParaRPr lang="en-US" sz="3400" dirty="0"/>
          </a:p>
        </p:txBody>
      </p:sp>
      <p:sp>
        <p:nvSpPr>
          <p:cNvPr id="3" name="Text 0"/>
          <p:cNvSpPr/>
          <p:nvPr>
            <p:ph idx="101" type="body" hasCustomPrompt="1"/>
          </p:nvPr>
        </p:nvSpPr>
        <p:spPr>
          <a:xfrm>
            <a:off x="640080" y="2834640"/>
            <a:ext cx="7863840" cy="548640"/>
          </a:xfrm>
          <a:prstGeom prst="rect">
            <a:avLst/>
          </a:prstGeom>
          <a:noFill/>
          <a:ln/>
        </p:spPr>
        <p:txBody>
          <a:bodyPr wrap="square" lIns="0" tIns="0" rIns="0" bIns="0" rtlCol="0" anchor="t"/>
          <a:lstStyle/>
          <a:p>
            <a:pPr algn="l" indent="0" marL="0">
              <a:buNone/>
            </a:pPr>
            <a:r>
              <a:rPr lang="en-US" sz="1800" dirty="0">
                <a:solidFill>
                  <a:schemeClr val="bg2"/>
                </a:solidFill>
              </a:rPr>
              <a:t>Control Systems project · Reththika Murugadasan · October 2026</a:t>
            </a:r>
            <a:endParaRPr lang="en-US" sz="1800" dirty="0"/>
          </a:p>
        </p:txBody>
      </p:sp>
      <p:sp>
        <p:nvSpPr>
          <p:cNvPr id="4" name="chip-1"/>
          <p:cNvSpPr/>
          <p:nvPr/>
        </p:nvSpPr>
        <p:spPr>
          <a:xfrm>
            <a:off x="640080" y="3931920"/>
            <a:ext cx="1481328" cy="457200"/>
          </a:xfrm>
          <a:prstGeom prst="roundRect">
            <a:avLst>
              <a:gd name="adj" fmla="val 20000"/>
            </a:avLst>
          </a:prstGeom>
          <a:solidFill>
            <a:schemeClr val="accent4"/>
          </a:solidFill>
          <a:ln/>
        </p:spPr>
      </p:sp>
      <p:sp>
        <p:nvSpPr>
          <p:cNvPr id="5" name="chip-text-2"/>
          <p:cNvSpPr txBox="1"/>
          <p:nvPr/>
        </p:nvSpPr>
        <p:spPr>
          <a:xfrm>
            <a:off x="640080" y="3931920"/>
            <a:ext cx="1481328" cy="457200"/>
          </a:xfrm>
          <a:prstGeom prst="rect">
            <a:avLst/>
          </a:prstGeom>
          <a:noFill/>
          <a:ln/>
        </p:spPr>
        <p:txBody>
          <a:bodyPr wrap="square" lIns="0" tIns="0" rIns="0" bIns="0" rtlCol="0" anchor="ctr"/>
          <a:lstStyle/>
          <a:p>
            <a:pPr algn="ctr" indent="0" marL="0">
              <a:buNone/>
            </a:pPr>
            <a:r>
              <a:rPr lang="en-US" sz="1200" b="1" dirty="0">
                <a:solidFill>
                  <a:schemeClr val="bg1"/>
                </a:solidFill>
              </a:rPr>
              <a:t>Fixed PID</a:t>
            </a:r>
            <a:endParaRPr lang="en-US" sz="1200" dirty="0"/>
          </a:p>
        </p:txBody>
      </p:sp>
      <p:sp>
        <p:nvSpPr>
          <p:cNvPr id="6" name="chip-3"/>
          <p:cNvSpPr/>
          <p:nvPr/>
        </p:nvSpPr>
        <p:spPr>
          <a:xfrm>
            <a:off x="2231136" y="3931920"/>
            <a:ext cx="1481328" cy="457200"/>
          </a:xfrm>
          <a:prstGeom prst="roundRect">
            <a:avLst>
              <a:gd name="adj" fmla="val 20000"/>
            </a:avLst>
          </a:prstGeom>
          <a:solidFill>
            <a:schemeClr val="accent4"/>
          </a:solidFill>
          <a:ln/>
        </p:spPr>
      </p:sp>
      <p:sp>
        <p:nvSpPr>
          <p:cNvPr id="7" name="chip-text-4"/>
          <p:cNvSpPr txBox="1"/>
          <p:nvPr/>
        </p:nvSpPr>
        <p:spPr>
          <a:xfrm>
            <a:off x="2231136" y="3931920"/>
            <a:ext cx="1481328" cy="457200"/>
          </a:xfrm>
          <a:prstGeom prst="rect">
            <a:avLst/>
          </a:prstGeom>
          <a:noFill/>
          <a:ln/>
        </p:spPr>
        <p:txBody>
          <a:bodyPr wrap="square" lIns="0" tIns="0" rIns="0" bIns="0" rtlCol="0" anchor="ctr"/>
          <a:lstStyle/>
          <a:p>
            <a:pPr algn="ctr" indent="0" marL="0">
              <a:buNone/>
            </a:pPr>
            <a:r>
              <a:rPr lang="en-US" sz="1200" b="1" dirty="0">
                <a:solidFill>
                  <a:schemeClr val="bg1"/>
                </a:solidFill>
              </a:rPr>
              <a:t>Fixed SMC</a:t>
            </a:r>
            <a:endParaRPr lang="en-US" sz="1200" dirty="0"/>
          </a:p>
        </p:txBody>
      </p:sp>
      <p:sp>
        <p:nvSpPr>
          <p:cNvPr id="8" name="chip-5"/>
          <p:cNvSpPr/>
          <p:nvPr/>
        </p:nvSpPr>
        <p:spPr>
          <a:xfrm>
            <a:off x="3822192" y="3931920"/>
            <a:ext cx="1481328" cy="457200"/>
          </a:xfrm>
          <a:prstGeom prst="roundRect">
            <a:avLst>
              <a:gd name="adj" fmla="val 20000"/>
            </a:avLst>
          </a:prstGeom>
          <a:solidFill>
            <a:schemeClr val="accent1"/>
          </a:solidFill>
          <a:ln/>
        </p:spPr>
      </p:sp>
      <p:sp>
        <p:nvSpPr>
          <p:cNvPr id="9" name="chip-text-6"/>
          <p:cNvSpPr txBox="1"/>
          <p:nvPr/>
        </p:nvSpPr>
        <p:spPr>
          <a:xfrm>
            <a:off x="3822192" y="3931920"/>
            <a:ext cx="1481328" cy="457200"/>
          </a:xfrm>
          <a:prstGeom prst="rect">
            <a:avLst/>
          </a:prstGeom>
          <a:noFill/>
          <a:ln/>
        </p:spPr>
        <p:txBody>
          <a:bodyPr wrap="square" lIns="0" tIns="0" rIns="0" bIns="0" rtlCol="0" anchor="ctr"/>
          <a:lstStyle/>
          <a:p>
            <a:pPr algn="ctr" indent="0" marL="0">
              <a:buNone/>
            </a:pPr>
            <a:r>
              <a:rPr lang="en-US" sz="1200" b="1" dirty="0">
                <a:solidFill>
                  <a:schemeClr val="bg1"/>
                </a:solidFill>
              </a:rPr>
              <a:t>Direct TD3</a:t>
            </a:r>
            <a:endParaRPr lang="en-US" sz="1200" dirty="0"/>
          </a:p>
        </p:txBody>
      </p:sp>
      <p:sp>
        <p:nvSpPr>
          <p:cNvPr id="10" name="chip-7"/>
          <p:cNvSpPr/>
          <p:nvPr/>
        </p:nvSpPr>
        <p:spPr>
          <a:xfrm>
            <a:off x="5413248" y="3931920"/>
            <a:ext cx="1481328" cy="457200"/>
          </a:xfrm>
          <a:prstGeom prst="roundRect">
            <a:avLst>
              <a:gd name="adj" fmla="val 20000"/>
            </a:avLst>
          </a:prstGeom>
          <a:solidFill>
            <a:schemeClr val="accent1"/>
          </a:solidFill>
          <a:ln/>
        </p:spPr>
      </p:sp>
      <p:sp>
        <p:nvSpPr>
          <p:cNvPr id="11" name="chip-text-8"/>
          <p:cNvSpPr txBox="1"/>
          <p:nvPr/>
        </p:nvSpPr>
        <p:spPr>
          <a:xfrm>
            <a:off x="5413248" y="3931920"/>
            <a:ext cx="1481328" cy="457200"/>
          </a:xfrm>
          <a:prstGeom prst="rect">
            <a:avLst/>
          </a:prstGeom>
          <a:noFill/>
          <a:ln/>
        </p:spPr>
        <p:txBody>
          <a:bodyPr wrap="square" lIns="0" tIns="0" rIns="0" bIns="0" rtlCol="0" anchor="ctr"/>
          <a:lstStyle/>
          <a:p>
            <a:pPr algn="ctr" indent="0" marL="0">
              <a:buNone/>
            </a:pPr>
            <a:r>
              <a:rPr lang="en-US" sz="1200" b="1" dirty="0">
                <a:solidFill>
                  <a:schemeClr val="bg1"/>
                </a:solidFill>
              </a:rPr>
              <a:t>TD3 adaptive PID</a:t>
            </a:r>
            <a:endParaRPr lang="en-US" sz="1200" dirty="0"/>
          </a:p>
        </p:txBody>
      </p:sp>
      <p:sp>
        <p:nvSpPr>
          <p:cNvPr id="12" name="chip-9"/>
          <p:cNvSpPr/>
          <p:nvPr/>
        </p:nvSpPr>
        <p:spPr>
          <a:xfrm>
            <a:off x="7004304" y="3931920"/>
            <a:ext cx="1481328" cy="457200"/>
          </a:xfrm>
          <a:prstGeom prst="roundRect">
            <a:avLst>
              <a:gd name="adj" fmla="val 20000"/>
            </a:avLst>
          </a:prstGeom>
          <a:solidFill>
            <a:schemeClr val="accent1"/>
          </a:solidFill>
          <a:ln/>
        </p:spPr>
      </p:sp>
      <p:sp>
        <p:nvSpPr>
          <p:cNvPr id="13" name="chip-text-10"/>
          <p:cNvSpPr txBox="1"/>
          <p:nvPr/>
        </p:nvSpPr>
        <p:spPr>
          <a:xfrm>
            <a:off x="7004304" y="3931920"/>
            <a:ext cx="1481328" cy="457200"/>
          </a:xfrm>
          <a:prstGeom prst="rect">
            <a:avLst/>
          </a:prstGeom>
          <a:noFill/>
          <a:ln/>
        </p:spPr>
        <p:txBody>
          <a:bodyPr wrap="square" lIns="0" tIns="0" rIns="0" bIns="0" rtlCol="0" anchor="ctr"/>
          <a:lstStyle/>
          <a:p>
            <a:pPr algn="ctr" indent="0" marL="0">
              <a:buNone/>
            </a:pPr>
            <a:r>
              <a:rPr lang="en-US" sz="1200" b="1" dirty="0">
                <a:solidFill>
                  <a:schemeClr val="bg1"/>
                </a:solidFill>
              </a:rPr>
              <a:t>TD3 adaptive SMC</a:t>
            </a:r>
            <a:endParaRPr lang="en-US" sz="1200" dirty="0"/>
          </a:p>
        </p:txBody>
      </p:sp>
      <p:sp>
        <p:nvSpPr>
          <p:cNvPr id="14" name="text-11"/>
          <p:cNvSpPr txBox="1"/>
          <p:nvPr/>
        </p:nvSpPr>
        <p:spPr>
          <a:xfrm>
            <a:off x="640080" y="3520440"/>
            <a:ext cx="7315200" cy="274320"/>
          </a:xfrm>
          <a:prstGeom prst="rect">
            <a:avLst/>
          </a:prstGeom>
          <a:noFill/>
          <a:ln/>
        </p:spPr>
        <p:txBody>
          <a:bodyPr wrap="square" lIns="0" tIns="0" rIns="0" bIns="0" rtlCol="0" anchor="t"/>
          <a:lstStyle/>
          <a:p>
            <a:pPr indent="0" marL="0">
              <a:buNone/>
            </a:pPr>
            <a:r>
              <a:rPr lang="en-US" sz="1400" dirty="0">
                <a:solidFill>
                  <a:schemeClr val="bg2"/>
                </a:solidFill>
              </a:rPr>
              <a:t>Five controllers, one simulator, identical tests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Why regulating a boost converter is hard</a:t>
            </a:r>
            <a:endParaRPr lang="en-US" sz="3000" dirty="0"/>
          </a:p>
        </p:txBody>
      </p:sp>
      <p:sp>
        <p:nvSpPr>
          <p:cNvPr id="4" name="badge-12"/>
          <p:cNvSpPr/>
          <p:nvPr/>
        </p:nvSpPr>
        <p:spPr>
          <a:xfrm>
            <a:off x="457200" y="1234440"/>
            <a:ext cx="384048" cy="384048"/>
          </a:xfrm>
          <a:prstGeom prst="ellipse">
            <a:avLst/>
          </a:prstGeom>
          <a:solidFill>
            <a:schemeClr val="accent1"/>
          </a:solidFill>
          <a:ln/>
        </p:spPr>
      </p:sp>
      <p:sp>
        <p:nvSpPr>
          <p:cNvPr id="5" name="badge-num-13"/>
          <p:cNvSpPr txBox="1"/>
          <p:nvPr/>
        </p:nvSpPr>
        <p:spPr>
          <a:xfrm>
            <a:off x="457200" y="1234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14"/>
          <p:cNvSpPr txBox="1"/>
          <p:nvPr/>
        </p:nvSpPr>
        <p:spPr>
          <a:xfrm>
            <a:off x="1005840" y="1188720"/>
            <a:ext cx="4206240" cy="320040"/>
          </a:xfrm>
          <a:prstGeom prst="rect">
            <a:avLst/>
          </a:prstGeom>
          <a:noFill/>
          <a:ln/>
        </p:spPr>
        <p:txBody>
          <a:bodyPr wrap="square" lIns="0" tIns="0" rIns="0" bIns="0" rtlCol="0" anchor="t"/>
          <a:lstStyle/>
          <a:p>
            <a:pPr indent="0" marL="0">
              <a:buNone/>
            </a:pPr>
            <a:r>
              <a:rPr lang="en-US" sz="1800" b="1" dirty="0">
                <a:solidFill>
                  <a:schemeClr val="tx2"/>
                </a:solidFill>
              </a:rPr>
              <a:t>Inputs keep changing</a:t>
            </a:r>
            <a:endParaRPr lang="en-US" sz="1800" dirty="0"/>
          </a:p>
        </p:txBody>
      </p:sp>
      <p:sp>
        <p:nvSpPr>
          <p:cNvPr id="7" name="text-15"/>
          <p:cNvSpPr txBox="1"/>
          <p:nvPr/>
        </p:nvSpPr>
        <p:spPr>
          <a:xfrm>
            <a:off x="1005840" y="1536192"/>
            <a:ext cx="4206240" cy="685800"/>
          </a:xfrm>
          <a:prstGeom prst="rect">
            <a:avLst/>
          </a:prstGeom>
          <a:noFill/>
          <a:ln/>
        </p:spPr>
        <p:txBody>
          <a:bodyPr wrap="square" lIns="0" tIns="0" rIns="0" bIns="0" rtlCol="0" anchor="t"/>
          <a:lstStyle/>
          <a:p>
            <a:pPr indent="0" marL="0">
              <a:buNone/>
            </a:pPr>
            <a:r>
              <a:rPr lang="en-US" sz="1400" dirty="0">
                <a:solidFill>
                  <a:schemeClr val="tx1"/>
                </a:solidFill>
              </a:rPr>
              <a:t>Input voltage 10–14 V and load 10–30 Ω jump; a fixed duty gives the wrong output.</a:t>
            </a:r>
            <a:endParaRPr lang="en-US" sz="1400" dirty="0"/>
          </a:p>
        </p:txBody>
      </p:sp>
      <p:sp>
        <p:nvSpPr>
          <p:cNvPr id="8" name="badge-16"/>
          <p:cNvSpPr/>
          <p:nvPr/>
        </p:nvSpPr>
        <p:spPr>
          <a:xfrm>
            <a:off x="457200" y="2377440"/>
            <a:ext cx="384048" cy="384048"/>
          </a:xfrm>
          <a:prstGeom prst="ellipse">
            <a:avLst/>
          </a:prstGeom>
          <a:solidFill>
            <a:schemeClr val="accent1"/>
          </a:solidFill>
          <a:ln/>
        </p:spPr>
      </p:sp>
      <p:sp>
        <p:nvSpPr>
          <p:cNvPr id="9" name="badge-num-17"/>
          <p:cNvSpPr txBox="1"/>
          <p:nvPr/>
        </p:nvSpPr>
        <p:spPr>
          <a:xfrm>
            <a:off x="457200" y="2377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18"/>
          <p:cNvSpPr txBox="1"/>
          <p:nvPr/>
        </p:nvSpPr>
        <p:spPr>
          <a:xfrm>
            <a:off x="1005840" y="2331720"/>
            <a:ext cx="4206240" cy="320040"/>
          </a:xfrm>
          <a:prstGeom prst="rect">
            <a:avLst/>
          </a:prstGeom>
          <a:noFill/>
          <a:ln/>
        </p:spPr>
        <p:txBody>
          <a:bodyPr wrap="square" lIns="0" tIns="0" rIns="0" bIns="0" rtlCol="0" anchor="t"/>
          <a:lstStyle/>
          <a:p>
            <a:pPr indent="0" marL="0">
              <a:buNone/>
            </a:pPr>
            <a:r>
              <a:rPr lang="en-US" sz="1800" b="1" dirty="0">
                <a:solidFill>
                  <a:schemeClr val="tx2"/>
                </a:solidFill>
              </a:rPr>
              <a:t>The circuit rings</a:t>
            </a:r>
            <a:endParaRPr lang="en-US" sz="1800" dirty="0"/>
          </a:p>
        </p:txBody>
      </p:sp>
      <p:sp>
        <p:nvSpPr>
          <p:cNvPr id="11" name="text-19"/>
          <p:cNvSpPr txBox="1"/>
          <p:nvPr/>
        </p:nvSpPr>
        <p:spPr>
          <a:xfrm>
            <a:off x="1005840" y="2679192"/>
            <a:ext cx="4206240" cy="685800"/>
          </a:xfrm>
          <a:prstGeom prst="rect">
            <a:avLst/>
          </a:prstGeom>
          <a:noFill/>
          <a:ln/>
        </p:spPr>
        <p:txBody>
          <a:bodyPr wrap="square" lIns="0" tIns="0" rIns="0" bIns="0" rtlCol="0" anchor="t"/>
          <a:lstStyle/>
          <a:p>
            <a:pPr indent="0" marL="0">
              <a:buNone/>
            </a:pPr>
            <a:r>
              <a:rPr lang="en-US" sz="1400" dirty="0">
                <a:solidFill>
                  <a:schemeClr val="tx1"/>
                </a:solidFill>
              </a:rPr>
              <a:t>Lightly damped LC pair: damping ratio ≈ 0.07, resonance ≈ 232 Hz.</a:t>
            </a:r>
            <a:endParaRPr lang="en-US" sz="1400" dirty="0"/>
          </a:p>
        </p:txBody>
      </p:sp>
      <p:sp>
        <p:nvSpPr>
          <p:cNvPr id="12" name="badge-20"/>
          <p:cNvSpPr/>
          <p:nvPr/>
        </p:nvSpPr>
        <p:spPr>
          <a:xfrm>
            <a:off x="457200" y="3520440"/>
            <a:ext cx="384048" cy="384048"/>
          </a:xfrm>
          <a:prstGeom prst="ellipse">
            <a:avLst/>
          </a:prstGeom>
          <a:solidFill>
            <a:schemeClr val="accent1"/>
          </a:solidFill>
          <a:ln/>
        </p:spPr>
      </p:sp>
      <p:sp>
        <p:nvSpPr>
          <p:cNvPr id="13" name="badge-num-21"/>
          <p:cNvSpPr txBox="1"/>
          <p:nvPr/>
        </p:nvSpPr>
        <p:spPr>
          <a:xfrm>
            <a:off x="457200" y="3520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22"/>
          <p:cNvSpPr txBox="1"/>
          <p:nvPr/>
        </p:nvSpPr>
        <p:spPr>
          <a:xfrm>
            <a:off x="1005840" y="3474720"/>
            <a:ext cx="4206240" cy="320040"/>
          </a:xfrm>
          <a:prstGeom prst="rect">
            <a:avLst/>
          </a:prstGeom>
          <a:noFill/>
          <a:ln/>
        </p:spPr>
        <p:txBody>
          <a:bodyPr wrap="square" lIns="0" tIns="0" rIns="0" bIns="0" rtlCol="0" anchor="t"/>
          <a:lstStyle/>
          <a:p>
            <a:pPr indent="0" marL="0">
              <a:buNone/>
            </a:pPr>
            <a:r>
              <a:rPr lang="en-US" sz="1800" b="1" dirty="0">
                <a:solidFill>
                  <a:schemeClr val="tx2"/>
                </a:solidFill>
              </a:rPr>
              <a:t>It first moves the wrong way</a:t>
            </a:r>
            <a:endParaRPr lang="en-US" sz="1800" dirty="0"/>
          </a:p>
        </p:txBody>
      </p:sp>
      <p:sp>
        <p:nvSpPr>
          <p:cNvPr id="15" name="text-23"/>
          <p:cNvSpPr txBox="1"/>
          <p:nvPr/>
        </p:nvSpPr>
        <p:spPr>
          <a:xfrm>
            <a:off x="1005840" y="3822192"/>
            <a:ext cx="4206240" cy="685800"/>
          </a:xfrm>
          <a:prstGeom prst="rect">
            <a:avLst/>
          </a:prstGeom>
          <a:noFill/>
          <a:ln/>
        </p:spPr>
        <p:txBody>
          <a:bodyPr wrap="square" lIns="0" tIns="0" rIns="0" bIns="0" rtlCol="0" anchor="t"/>
          <a:lstStyle/>
          <a:p>
            <a:pPr indent="0" marL="0">
              <a:buNone/>
            </a:pPr>
            <a:r>
              <a:rPr lang="en-US" sz="1400" dirty="0">
                <a:solidFill>
                  <a:schemeClr val="tx1"/>
                </a:solidFill>
              </a:rPr>
              <a:t>Right-half-plane zero: raising the duty first lowers Vout (non-minimum phase).</a:t>
            </a:r>
            <a:endParaRPr lang="en-US" sz="1400" dirty="0"/>
          </a:p>
        </p:txBody>
      </p:sp>
      <p:sp>
        <p:nvSpPr>
          <p:cNvPr id="16" name="card-24"/>
          <p:cNvSpPr/>
          <p:nvPr/>
        </p:nvSpPr>
        <p:spPr>
          <a:xfrm>
            <a:off x="5577840" y="1188720"/>
            <a:ext cx="3108960" cy="3383280"/>
          </a:xfrm>
          <a:prstGeom prst="roundRect">
            <a:avLst>
              <a:gd name="adj" fmla="val 2941"/>
            </a:avLst>
          </a:prstGeom>
          <a:solidFill>
            <a:schemeClr val="tx2"/>
          </a:solidFill>
          <a:ln/>
        </p:spPr>
      </p:sp>
      <p:sp>
        <p:nvSpPr>
          <p:cNvPr id="17" name="text-25"/>
          <p:cNvSpPr txBox="1"/>
          <p:nvPr/>
        </p:nvSpPr>
        <p:spPr>
          <a:xfrm>
            <a:off x="5806440" y="1371600"/>
            <a:ext cx="2651760" cy="320040"/>
          </a:xfrm>
          <a:prstGeom prst="rect">
            <a:avLst/>
          </a:prstGeom>
          <a:noFill/>
          <a:ln/>
        </p:spPr>
        <p:txBody>
          <a:bodyPr wrap="square" lIns="0" tIns="0" rIns="0" bIns="0" rtlCol="0" anchor="t"/>
          <a:lstStyle/>
          <a:p>
            <a:pPr indent="0" marL="0">
              <a:buNone/>
            </a:pPr>
            <a:r>
              <a:rPr lang="en-US" sz="1600" b="1" dirty="0">
                <a:solidFill>
                  <a:schemeClr val="accent2"/>
                </a:solidFill>
              </a:rPr>
              <a:t>Research question</a:t>
            </a:r>
            <a:endParaRPr lang="en-US" sz="1600" dirty="0"/>
          </a:p>
        </p:txBody>
      </p:sp>
      <p:sp>
        <p:nvSpPr>
          <p:cNvPr id="18" name="text-26"/>
          <p:cNvSpPr txBox="1"/>
          <p:nvPr/>
        </p:nvSpPr>
        <p:spPr>
          <a:xfrm>
            <a:off x="5806440" y="1783080"/>
            <a:ext cx="2651760" cy="1645920"/>
          </a:xfrm>
          <a:prstGeom prst="rect">
            <a:avLst/>
          </a:prstGeom>
          <a:noFill/>
          <a:ln/>
        </p:spPr>
        <p:txBody>
          <a:bodyPr wrap="square" lIns="0" tIns="0" rIns="0" bIns="0" rtlCol="0" anchor="t"/>
          <a:lstStyle/>
          <a:p>
            <a:pPr indent="0" marL="0">
              <a:buNone/>
            </a:pPr>
            <a:r>
              <a:rPr lang="en-US" sz="1600" dirty="0">
                <a:solidFill>
                  <a:schemeClr val="bg1"/>
                </a:solidFill>
              </a:rPr>
              <a:t>Can reinforcement learning tune classic controllers (PID, SMC) to do better than fixed settings — without ever being allowed to make the circuit unsafe?</a:t>
            </a:r>
            <a:endParaRPr lang="en-US" sz="1600" dirty="0"/>
          </a:p>
        </p:txBody>
      </p:sp>
      <p:sp>
        <p:nvSpPr>
          <p:cNvPr id="19" name="text-27"/>
          <p:cNvSpPr txBox="1"/>
          <p:nvPr/>
        </p:nvSpPr>
        <p:spPr>
          <a:xfrm>
            <a:off x="5806440" y="3520440"/>
            <a:ext cx="2651760" cy="914400"/>
          </a:xfrm>
          <a:prstGeom prst="rect">
            <a:avLst/>
          </a:prstGeom>
          <a:noFill/>
          <a:ln/>
        </p:spPr>
        <p:txBody>
          <a:bodyPr wrap="square" lIns="0" tIns="0" rIns="0" bIns="0" rtlCol="0" anchor="t"/>
          <a:lstStyle/>
          <a:p>
            <a:pPr indent="0" marL="0">
              <a:buNone/>
            </a:pPr>
            <a:r>
              <a:rPr lang="en-US" sz="1400" dirty="0">
                <a:solidFill>
                  <a:schemeClr val="bg2"/>
                </a:solidFill>
              </a:rPr>
              <a:t>Approach: build a validated simulator, two tuned baselines, three RL controllers, and compare all five on identical tests.</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The plant: an averaged boost-converter model</a:t>
            </a:r>
            <a:endParaRPr lang="en-US" sz="3000" dirty="0"/>
          </a:p>
        </p:txBody>
      </p:sp>
      <p:sp>
        <p:nvSpPr>
          <p:cNvPr id="4" name="card-28"/>
          <p:cNvSpPr/>
          <p:nvPr/>
        </p:nvSpPr>
        <p:spPr>
          <a:xfrm>
            <a:off x="457200" y="1188720"/>
            <a:ext cx="4754880" cy="2011680"/>
          </a:xfrm>
          <a:prstGeom prst="roundRect">
            <a:avLst>
              <a:gd name="adj" fmla="val 4545"/>
            </a:avLst>
          </a:prstGeom>
          <a:solidFill>
            <a:schemeClr val="bg2"/>
          </a:solidFill>
          <a:ln/>
        </p:spPr>
      </p:sp>
      <p:sp>
        <p:nvSpPr>
          <p:cNvPr id="5" name="text-29"/>
          <p:cNvSpPr txBox="1"/>
          <p:nvPr/>
        </p:nvSpPr>
        <p:spPr>
          <a:xfrm>
            <a:off x="685800" y="1371600"/>
            <a:ext cx="4389120" cy="365760"/>
          </a:xfrm>
          <a:prstGeom prst="rect">
            <a:avLst/>
          </a:prstGeom>
          <a:noFill/>
          <a:ln/>
        </p:spPr>
        <p:txBody>
          <a:bodyPr wrap="square" lIns="0" tIns="0" rIns="0" bIns="0" rtlCol="0" anchor="t"/>
          <a:lstStyle/>
          <a:p>
            <a:pPr indent="0" marL="0">
              <a:buNone/>
            </a:pPr>
            <a:r>
              <a:rPr lang="en-US" sz="1800" b="1" dirty="0">
                <a:solidFill>
                  <a:schemeClr val="tx2"/>
                </a:solidFill>
              </a:rPr>
              <a:t>dIL/dt = [ Vin − (1 − D)·Vout ] / L</a:t>
            </a:r>
            <a:endParaRPr lang="en-US" sz="1800" dirty="0"/>
          </a:p>
        </p:txBody>
      </p:sp>
      <p:sp>
        <p:nvSpPr>
          <p:cNvPr id="6" name="text-30"/>
          <p:cNvSpPr txBox="1"/>
          <p:nvPr/>
        </p:nvSpPr>
        <p:spPr>
          <a:xfrm>
            <a:off x="685800" y="1874520"/>
            <a:ext cx="4389120" cy="365760"/>
          </a:xfrm>
          <a:prstGeom prst="rect">
            <a:avLst/>
          </a:prstGeom>
          <a:noFill/>
          <a:ln/>
        </p:spPr>
        <p:txBody>
          <a:bodyPr wrap="square" lIns="0" tIns="0" rIns="0" bIns="0" rtlCol="0" anchor="t"/>
          <a:lstStyle/>
          <a:p>
            <a:pPr indent="0" marL="0">
              <a:buNone/>
            </a:pPr>
            <a:r>
              <a:rPr lang="en-US" sz="1800" b="1" dirty="0">
                <a:solidFill>
                  <a:schemeClr val="tx2"/>
                </a:solidFill>
              </a:rPr>
              <a:t>dVout/dt = [ (1 − D)·IL − Vout / R ] / C</a:t>
            </a:r>
            <a:endParaRPr lang="en-US" sz="1800" dirty="0"/>
          </a:p>
        </p:txBody>
      </p:sp>
      <p:sp>
        <p:nvSpPr>
          <p:cNvPr id="7" name="text-31"/>
          <p:cNvSpPr txBox="1"/>
          <p:nvPr/>
        </p:nvSpPr>
        <p:spPr>
          <a:xfrm>
            <a:off x="685800" y="2468880"/>
            <a:ext cx="4389120" cy="594360"/>
          </a:xfrm>
          <a:prstGeom prst="rect">
            <a:avLst/>
          </a:prstGeom>
          <a:noFill/>
          <a:ln/>
        </p:spPr>
        <p:txBody>
          <a:bodyPr wrap="square" lIns="0" tIns="0" rIns="0" bIns="0" rtlCol="0" anchor="t"/>
          <a:lstStyle/>
          <a:p>
            <a:pPr indent="0" marL="0">
              <a:buNone/>
            </a:pPr>
            <a:r>
              <a:rPr lang="en-US" sz="1400" dirty="0">
                <a:solidFill>
                  <a:schemeClr val="tx1"/>
                </a:solidFill>
              </a:rPr>
              <a:t>Ideal gain: Vout = Vin / (1 − D), so 12 V → 24 V needs D = 0.5</a:t>
            </a:r>
            <a:endParaRPr lang="en-US" sz="1400" dirty="0"/>
          </a:p>
        </p:txBody>
      </p:sp>
      <p:graphicFrame>
        <p:nvGraphicFramePr>
          <p:cNvPr id="4" name="parameter-table"/>
          <p:cNvGraphicFramePr>
            <a:graphicFrameLocks noGrp="1"/>
          </p:cNvGraphicFramePr>
          <p:nvPr>
            <p:extLst>
              <p:ext uri="{D42A27DB-BD31-4B8C-83A1-F6EECF244321}">
                <p14:modId xmlns:p14="http://schemas.microsoft.com/office/powerpoint/2010/main" val="1579011935"/>
              </p:ext>
            </p:extLst>
          </p:nvPr>
        </p:nvGraphicFramePr>
        <p:xfrm>
          <a:off x="5486400" y="1188720"/>
          <a:ext cx="3200400" cy="914400"/>
        </p:xfrm>
        <a:graphic>
          <a:graphicData uri="http://schemas.openxmlformats.org/drawingml/2006/table">
            <a:tbl>
              <a:tblPr/>
              <a:tblGrid>
                <a:gridCol w="1097280"/>
                <a:gridCol w="2103120"/>
              </a:tblGrid>
              <a:tr h="365760">
                <a:tc>
                  <a:txBody>
                    <a:bodyPr/>
                    <a:lstStyle/>
                    <a:p>
                      <a:pPr indent="0" marL="0">
                        <a:buNone/>
                      </a:pPr>
                      <a:r>
                        <a:rPr lang="en-US" sz="1400" b="1" dirty="0">
                          <a:solidFill>
                            <a:srgbClr val="14232B"/>
                          </a:solidFill>
                        </a:rPr>
                        <a:t>Vin</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indent="0" marL="0">
                        <a:buNone/>
                      </a:pPr>
                      <a:r>
                        <a:rPr lang="en-US" sz="1400" dirty="0">
                          <a:solidFill>
                            <a:srgbClr val="14232B"/>
                          </a:solidFill>
                        </a:rPr>
                        <a:t>12 V (10–14)</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65760">
                <a:tc>
                  <a:txBody>
                    <a:bodyPr/>
                    <a:lstStyle/>
                    <a:p>
                      <a:pPr indent="0" marL="0">
                        <a:buNone/>
                      </a:pPr>
                      <a:r>
                        <a:rPr lang="en-US" sz="1400" b="1" dirty="0">
                          <a:solidFill>
                            <a:srgbClr val="14232B"/>
                          </a:solidFill>
                        </a:rPr>
                        <a:t>Vref</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4232B"/>
                          </a:solidFill>
                        </a:rPr>
                        <a:t>24 V (20–28)</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4232B"/>
                          </a:solidFill>
                        </a:rPr>
                        <a:t>L</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indent="0" marL="0">
                        <a:buNone/>
                      </a:pPr>
                      <a:r>
                        <a:rPr lang="en-US" sz="1400" dirty="0">
                          <a:solidFill>
                            <a:srgbClr val="14232B"/>
                          </a:solidFill>
                        </a:rPr>
                        <a:t>1 mH</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65760">
                <a:tc>
                  <a:txBody>
                    <a:bodyPr/>
                    <a:lstStyle/>
                    <a:p>
                      <a:pPr indent="0" marL="0">
                        <a:buNone/>
                      </a:pPr>
                      <a:r>
                        <a:rPr lang="en-US" sz="1400" b="1" dirty="0">
                          <a:solidFill>
                            <a:srgbClr val="14232B"/>
                          </a:solidFill>
                        </a:rPr>
                        <a:t>C</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4232B"/>
                          </a:solidFill>
                        </a:rPr>
                        <a:t>470 µF</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4232B"/>
                          </a:solidFill>
                        </a:rPr>
                        <a:t>R</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indent="0" marL="0">
                        <a:buNone/>
                      </a:pPr>
                      <a:r>
                        <a:rPr lang="en-US" sz="1400" dirty="0">
                          <a:solidFill>
                            <a:srgbClr val="14232B"/>
                          </a:solidFill>
                        </a:rPr>
                        <a:t>20 Ω (10–30)</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65760">
                <a:tc>
                  <a:txBody>
                    <a:bodyPr/>
                    <a:lstStyle/>
                    <a:p>
                      <a:pPr indent="0" marL="0">
                        <a:buNone/>
                      </a:pPr>
                      <a:r>
                        <a:rPr lang="en-US" sz="1400" b="1" dirty="0">
                          <a:solidFill>
                            <a:srgbClr val="14232B"/>
                          </a:solidFill>
                        </a:rPr>
                        <a:t>f_sw</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4232B"/>
                          </a:solidFill>
                        </a:rPr>
                        <a:t>20 kHz</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4232B"/>
                          </a:solidFill>
                        </a:rPr>
                        <a:t>D limits</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indent="0" marL="0">
                        <a:buNone/>
                      </a:pPr>
                      <a:r>
                        <a:rPr lang="en-US" sz="1400" dirty="0">
                          <a:solidFill>
                            <a:srgbClr val="14232B"/>
                          </a:solidFill>
                        </a:rPr>
                        <a:t>0.05 – 0.95</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bl>
          </a:graphicData>
        </a:graphic>
      </p:graphicFrame>
      <p:sp>
        <p:nvSpPr>
          <p:cNvPr id="9" name="box-32"/>
          <p:cNvSpPr/>
          <p:nvPr/>
        </p:nvSpPr>
        <p:spPr>
          <a:xfrm>
            <a:off x="457200" y="3931920"/>
            <a:ext cx="2651760" cy="685800"/>
          </a:xfrm>
          <a:prstGeom prst="roundRect">
            <a:avLst>
              <a:gd name="adj" fmla="val 10667"/>
            </a:avLst>
          </a:prstGeom>
          <a:solidFill>
            <a:schemeClr val="bg2"/>
          </a:solidFill>
          <a:ln w="15875">
            <a:solidFill>
              <a:schemeClr val="accent1"/>
            </a:solidFill>
            <a:prstDash val="solid"/>
          </a:ln>
        </p:spPr>
      </p:sp>
      <p:sp>
        <p:nvSpPr>
          <p:cNvPr id="10" name="box-text-33"/>
          <p:cNvSpPr txBox="1"/>
          <p:nvPr/>
        </p:nvSpPr>
        <p:spPr>
          <a:xfrm>
            <a:off x="457200" y="3931920"/>
            <a:ext cx="2651760" cy="685800"/>
          </a:xfrm>
          <a:prstGeom prst="rect">
            <a:avLst/>
          </a:prstGeom>
          <a:noFill/>
          <a:ln/>
        </p:spPr>
        <p:txBody>
          <a:bodyPr wrap="square" lIns="508" tIns="508" rIns="508" bIns="508" rtlCol="0" anchor="ctr"/>
          <a:lstStyle/>
          <a:p>
            <a:pPr algn="ctr" indent="0" marL="0">
              <a:buNone/>
            </a:pPr>
            <a:r>
              <a:rPr lang="en-US" sz="1400" dirty="0">
                <a:solidFill>
                  <a:schemeClr val="tx1"/>
                </a:solidFill>
              </a:rPr>
              <a:t>Exact CCM step (matrix exponential)</a:t>
            </a:r>
            <a:endParaRPr lang="en-US" sz="1400" dirty="0"/>
          </a:p>
        </p:txBody>
      </p:sp>
      <p:sp>
        <p:nvSpPr>
          <p:cNvPr id="11" name="box-34"/>
          <p:cNvSpPr/>
          <p:nvPr/>
        </p:nvSpPr>
        <p:spPr>
          <a:xfrm>
            <a:off x="3246120" y="3931920"/>
            <a:ext cx="2651760" cy="685800"/>
          </a:xfrm>
          <a:prstGeom prst="roundRect">
            <a:avLst>
              <a:gd name="adj" fmla="val 10667"/>
            </a:avLst>
          </a:prstGeom>
          <a:solidFill>
            <a:schemeClr val="bg2"/>
          </a:solidFill>
          <a:ln w="15875">
            <a:solidFill>
              <a:schemeClr val="accent1"/>
            </a:solidFill>
            <a:prstDash val="solid"/>
          </a:ln>
        </p:spPr>
      </p:sp>
      <p:sp>
        <p:nvSpPr>
          <p:cNvPr id="12" name="box-text-35"/>
          <p:cNvSpPr txBox="1"/>
          <p:nvPr/>
        </p:nvSpPr>
        <p:spPr>
          <a:xfrm>
            <a:off x="3246120" y="3931920"/>
            <a:ext cx="2651760" cy="685800"/>
          </a:xfrm>
          <a:prstGeom prst="rect">
            <a:avLst/>
          </a:prstGeom>
          <a:noFill/>
          <a:ln/>
        </p:spPr>
        <p:txBody>
          <a:bodyPr wrap="square" lIns="508" tIns="508" rIns="508" bIns="508" rtlCol="0" anchor="ctr"/>
          <a:lstStyle/>
          <a:p>
            <a:pPr algn="ctr" indent="0" marL="0">
              <a:buNone/>
            </a:pPr>
            <a:r>
              <a:rPr lang="en-US" sz="1400" dirty="0">
                <a:solidFill>
                  <a:schemeClr val="tx1"/>
                </a:solidFill>
              </a:rPr>
              <a:t>DCM model: diode blocks reverse current</a:t>
            </a:r>
            <a:endParaRPr lang="en-US" sz="1400" dirty="0"/>
          </a:p>
        </p:txBody>
      </p:sp>
      <p:sp>
        <p:nvSpPr>
          <p:cNvPr id="13" name="box-36"/>
          <p:cNvSpPr/>
          <p:nvPr/>
        </p:nvSpPr>
        <p:spPr>
          <a:xfrm>
            <a:off x="6035040" y="3931920"/>
            <a:ext cx="2651760" cy="685800"/>
          </a:xfrm>
          <a:prstGeom prst="roundRect">
            <a:avLst>
              <a:gd name="adj" fmla="val 10667"/>
            </a:avLst>
          </a:prstGeom>
          <a:solidFill>
            <a:schemeClr val="bg2"/>
          </a:solidFill>
          <a:ln w="15875">
            <a:solidFill>
              <a:schemeClr val="accent1"/>
            </a:solidFill>
            <a:prstDash val="solid"/>
          </a:ln>
        </p:spPr>
      </p:sp>
      <p:sp>
        <p:nvSpPr>
          <p:cNvPr id="14" name="box-text-37"/>
          <p:cNvSpPr txBox="1"/>
          <p:nvPr/>
        </p:nvSpPr>
        <p:spPr>
          <a:xfrm>
            <a:off x="6035040" y="3931920"/>
            <a:ext cx="2651760" cy="685800"/>
          </a:xfrm>
          <a:prstGeom prst="rect">
            <a:avLst/>
          </a:prstGeom>
          <a:noFill/>
          <a:ln/>
        </p:spPr>
        <p:txBody>
          <a:bodyPr wrap="square" lIns="508" tIns="508" rIns="508" bIns="508" rtlCol="0" anchor="ctr"/>
          <a:lstStyle/>
          <a:p>
            <a:pPr algn="ctr" indent="0" marL="0">
              <a:buNone/>
            </a:pPr>
            <a:r>
              <a:rPr lang="en-US" sz="1400" dirty="0">
                <a:solidFill>
                  <a:schemeClr val="tx1"/>
                </a:solidFill>
              </a:rPr>
              <a:t>Step = 50 µs = one switching period</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The simulator was validated first</a:t>
            </a:r>
            <a:endParaRPr lang="en-US" sz="3000" dirty="0"/>
          </a:p>
        </p:txBody>
      </p:sp>
      <p:pic>
        <p:nvPicPr>
          <p:cNvPr id="4" name="figure-38" descr="Open-loop validation: old CCM-only model, switching reference and new CCM/DCM model for D = 0.3, 0.5, 0.6">    </p:cNvPr>
          <p:cNvPicPr>
            <a:picLocks noChangeAspect="1"/>
          </p:cNvPicPr>
          <p:nvPr/>
        </p:nvPicPr>
        <p:blipFill>
          <a:blip r:embed="rId1"/>
          <a:stretch>
            <a:fillRect/>
          </a:stretch>
        </p:blipFill>
        <p:spPr>
          <a:xfrm>
            <a:off x="457200" y="1188720"/>
            <a:ext cx="5577840" cy="2606467"/>
          </a:xfrm>
          <a:prstGeom prst="rect">
            <a:avLst/>
          </a:prstGeom>
        </p:spPr>
      </p:pic>
      <p:sp>
        <p:nvSpPr>
          <p:cNvPr id="5" name="text-39"/>
          <p:cNvSpPr txBox="1"/>
          <p:nvPr/>
        </p:nvSpPr>
        <p:spPr>
          <a:xfrm>
            <a:off x="457200" y="3840480"/>
            <a:ext cx="5577840" cy="548640"/>
          </a:xfrm>
          <a:prstGeom prst="rect">
            <a:avLst/>
          </a:prstGeom>
          <a:noFill/>
          <a:ln/>
        </p:spPr>
        <p:txBody>
          <a:bodyPr wrap="square" lIns="0" tIns="0" rIns="0" bIns="0" rtlCol="0" anchor="t"/>
          <a:lstStyle/>
          <a:p>
            <a:pPr indent="0" marL="0">
              <a:buNone/>
            </a:pPr>
            <a:r>
              <a:rPr lang="en-US" sz="1100" dirty="0">
                <a:solidFill>
                  <a:schemeClr val="accent6"/>
                </a:solidFill>
              </a:rPr>
              <a:t>Open loop, D = 0.3 / 0.5 / 0.6. Grey: first (CCM-only) model; dashed: switch-level reference; blue: final model.</a:t>
            </a:r>
            <a:endParaRPr lang="en-US" sz="1100" dirty="0"/>
          </a:p>
        </p:txBody>
      </p:sp>
      <p:sp>
        <p:nvSpPr>
          <p:cNvPr id="6" name="text-40"/>
          <p:cNvSpPr txBox="1"/>
          <p:nvPr/>
        </p:nvSpPr>
        <p:spPr>
          <a:xfrm>
            <a:off x="6309360" y="1188720"/>
            <a:ext cx="2377440" cy="548640"/>
          </a:xfrm>
          <a:prstGeom prst="rect">
            <a:avLst/>
          </a:prstGeom>
          <a:noFill/>
          <a:ln/>
        </p:spPr>
        <p:txBody>
          <a:bodyPr wrap="square" lIns="0" tIns="0" rIns="0" bIns="0" rtlCol="0" anchor="t"/>
          <a:lstStyle/>
          <a:p>
            <a:pPr indent="0" marL="0">
              <a:buNone/>
            </a:pPr>
            <a:r>
              <a:rPr lang="en-US" sz="3000" b="1" dirty="0">
                <a:solidFill>
                  <a:schemeClr val="accent1"/>
                </a:solidFill>
              </a:rPr>
              <a:t>0.013 V</a:t>
            </a:r>
            <a:endParaRPr lang="en-US" sz="3000" dirty="0"/>
          </a:p>
        </p:txBody>
      </p:sp>
      <p:sp>
        <p:nvSpPr>
          <p:cNvPr id="7" name="text-41"/>
          <p:cNvSpPr txBox="1"/>
          <p:nvPr/>
        </p:nvSpPr>
        <p:spPr>
          <a:xfrm>
            <a:off x="6309360" y="1737360"/>
            <a:ext cx="2377440" cy="594360"/>
          </a:xfrm>
          <a:prstGeom prst="rect">
            <a:avLst/>
          </a:prstGeom>
          <a:noFill/>
          <a:ln/>
        </p:spPr>
        <p:txBody>
          <a:bodyPr wrap="square" lIns="0" tIns="0" rIns="0" bIns="0" rtlCol="0" anchor="t"/>
          <a:lstStyle/>
          <a:p>
            <a:pPr indent="0" marL="0">
              <a:buNone/>
            </a:pPr>
            <a:r>
              <a:rPr lang="en-US" sz="1400" dirty="0">
                <a:solidFill>
                  <a:schemeClr val="tx1"/>
                </a:solidFill>
              </a:rPr>
              <a:t>RMS error against a switch-level reference</a:t>
            </a:r>
            <a:endParaRPr lang="en-US" sz="1400" dirty="0"/>
          </a:p>
        </p:txBody>
      </p:sp>
      <p:sp>
        <p:nvSpPr>
          <p:cNvPr id="8" name="text-42"/>
          <p:cNvSpPr txBox="1"/>
          <p:nvPr/>
        </p:nvSpPr>
        <p:spPr>
          <a:xfrm>
            <a:off x="6309360" y="2331720"/>
            <a:ext cx="2377440" cy="548640"/>
          </a:xfrm>
          <a:prstGeom prst="rect">
            <a:avLst/>
          </a:prstGeom>
          <a:noFill/>
          <a:ln/>
        </p:spPr>
        <p:txBody>
          <a:bodyPr wrap="square" lIns="0" tIns="0" rIns="0" bIns="0" rtlCol="0" anchor="t"/>
          <a:lstStyle/>
          <a:p>
            <a:pPr indent="0" marL="0">
              <a:buNone/>
            </a:pPr>
            <a:r>
              <a:rPr lang="en-US" sz="3000" b="1" dirty="0">
                <a:solidFill>
                  <a:schemeClr val="accent2"/>
                </a:solidFill>
              </a:rPr>
              <a:t>0 A</a:t>
            </a:r>
            <a:endParaRPr lang="en-US" sz="3000" dirty="0"/>
          </a:p>
        </p:txBody>
      </p:sp>
      <p:sp>
        <p:nvSpPr>
          <p:cNvPr id="9" name="text-43"/>
          <p:cNvSpPr txBox="1"/>
          <p:nvPr/>
        </p:nvSpPr>
        <p:spPr>
          <a:xfrm>
            <a:off x="6309360" y="2880360"/>
            <a:ext cx="2377440" cy="594360"/>
          </a:xfrm>
          <a:prstGeom prst="rect">
            <a:avLst/>
          </a:prstGeom>
          <a:noFill/>
          <a:ln/>
        </p:spPr>
        <p:txBody>
          <a:bodyPr wrap="square" lIns="0" tIns="0" rIns="0" bIns="0" rtlCol="0" anchor="t"/>
          <a:lstStyle/>
          <a:p>
            <a:pPr indent="0" marL="0">
              <a:buNone/>
            </a:pPr>
            <a:r>
              <a:rPr lang="en-US" sz="1400" dirty="0">
                <a:solidFill>
                  <a:schemeClr val="tx1"/>
                </a:solidFill>
              </a:rPr>
              <a:t>minimum inductor current (first version: −4.26 A)</a:t>
            </a:r>
            <a:endParaRPr lang="en-US" sz="1400" dirty="0"/>
          </a:p>
        </p:txBody>
      </p:sp>
      <p:sp>
        <p:nvSpPr>
          <p:cNvPr id="10" name="text-44"/>
          <p:cNvSpPr txBox="1"/>
          <p:nvPr/>
        </p:nvSpPr>
        <p:spPr>
          <a:xfrm>
            <a:off x="6309360" y="3474720"/>
            <a:ext cx="2377440" cy="548640"/>
          </a:xfrm>
          <a:prstGeom prst="rect">
            <a:avLst/>
          </a:prstGeom>
          <a:noFill/>
          <a:ln/>
        </p:spPr>
        <p:txBody>
          <a:bodyPr wrap="square" lIns="0" tIns="0" rIns="0" bIns="0" rtlCol="0" anchor="t"/>
          <a:lstStyle/>
          <a:p>
            <a:pPr indent="0" marL="0">
              <a:buNone/>
            </a:pPr>
            <a:r>
              <a:rPr lang="en-US" sz="2800" b="1" dirty="0">
                <a:solidFill>
                  <a:schemeClr val="accent4"/>
                </a:solidFill>
              </a:rPr>
              <a:t>28.045 V</a:t>
            </a:r>
            <a:endParaRPr lang="en-US" sz="2800" dirty="0"/>
          </a:p>
        </p:txBody>
      </p:sp>
      <p:sp>
        <p:nvSpPr>
          <p:cNvPr id="11" name="text-45"/>
          <p:cNvSpPr txBox="1"/>
          <p:nvPr/>
        </p:nvSpPr>
        <p:spPr>
          <a:xfrm>
            <a:off x="6309360" y="4023360"/>
            <a:ext cx="2377440" cy="594360"/>
          </a:xfrm>
          <a:prstGeom prst="rect">
            <a:avLst/>
          </a:prstGeom>
          <a:noFill/>
          <a:ln/>
        </p:spPr>
        <p:txBody>
          <a:bodyPr wrap="square" lIns="0" tIns="0" rIns="0" bIns="0" rtlCol="0" anchor="t"/>
          <a:lstStyle/>
          <a:p>
            <a:pPr indent="0" marL="0">
              <a:buNone/>
            </a:pPr>
            <a:r>
              <a:rPr lang="en-US" sz="1400" dirty="0">
                <a:solidFill>
                  <a:schemeClr val="tx1"/>
                </a:solidFill>
              </a:rPr>
              <a:t>DCM operating point equals the closed-form result</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Feedback loop and how performance is scored</a:t>
            </a:r>
            <a:endParaRPr lang="en-US" sz="3000" dirty="0"/>
          </a:p>
        </p:txBody>
      </p:sp>
      <p:sp>
        <p:nvSpPr>
          <p:cNvPr id="4" name="box-46"/>
          <p:cNvSpPr/>
          <p:nvPr/>
        </p:nvSpPr>
        <p:spPr>
          <a:xfrm>
            <a:off x="457200" y="1554480"/>
            <a:ext cx="1325880" cy="640080"/>
          </a:xfrm>
          <a:prstGeom prst="roundRect">
            <a:avLst>
              <a:gd name="adj" fmla="val 11429"/>
            </a:avLst>
          </a:prstGeom>
          <a:solidFill>
            <a:schemeClr val="bg1"/>
          </a:solidFill>
          <a:ln w="15875">
            <a:solidFill>
              <a:schemeClr val="accent6"/>
            </a:solidFill>
            <a:prstDash val="solid"/>
          </a:ln>
        </p:spPr>
      </p:sp>
      <p:sp>
        <p:nvSpPr>
          <p:cNvPr id="5" name="box-text-47"/>
          <p:cNvSpPr txBox="1"/>
          <p:nvPr/>
        </p:nvSpPr>
        <p:spPr>
          <a:xfrm>
            <a:off x="457200" y="1554480"/>
            <a:ext cx="1325880" cy="640080"/>
          </a:xfrm>
          <a:prstGeom prst="rect">
            <a:avLst/>
          </a:prstGeom>
          <a:noFill/>
          <a:ln/>
        </p:spPr>
        <p:txBody>
          <a:bodyPr wrap="square" lIns="508" tIns="508" rIns="508" bIns="508" rtlCol="0" anchor="ctr"/>
          <a:lstStyle/>
          <a:p>
            <a:pPr algn="ctr" indent="0" marL="0">
              <a:buNone/>
            </a:pPr>
            <a:r>
              <a:rPr lang="en-US" sz="1400" dirty="0">
                <a:solidFill>
                  <a:schemeClr val="tx1"/>
                </a:solidFill>
              </a:rPr>
              <a:t>Reference</a:t>
            </a:r>
            <a:endParaRPr lang="en-US" sz="1400" dirty="0"/>
          </a:p>
          <a:p>
            <a:pPr algn="ctr" indent="0" marL="0">
              <a:buNone/>
            </a:pPr>
            <a:r>
              <a:rPr lang="en-US" sz="1400" dirty="0">
                <a:solidFill>
                  <a:schemeClr val="tx1"/>
                </a:solidFill>
              </a:rPr>
              <a:t>24 V</a:t>
            </a:r>
            <a:endParaRPr lang="en-US" sz="1400" dirty="0"/>
          </a:p>
        </p:txBody>
      </p:sp>
      <p:sp>
        <p:nvSpPr>
          <p:cNvPr id="6" name="sum-48"/>
          <p:cNvSpPr/>
          <p:nvPr/>
        </p:nvSpPr>
        <p:spPr>
          <a:xfrm>
            <a:off x="2148840" y="1691640"/>
            <a:ext cx="365760" cy="365760"/>
          </a:xfrm>
          <a:prstGeom prst="ellipse">
            <a:avLst/>
          </a:prstGeom>
          <a:solidFill>
            <a:schemeClr val="bg1"/>
          </a:solidFill>
          <a:ln w="15875">
            <a:solidFill>
              <a:schemeClr val="accent6"/>
            </a:solidFill>
            <a:prstDash val="solid"/>
          </a:ln>
        </p:spPr>
      </p:sp>
      <p:sp>
        <p:nvSpPr>
          <p:cNvPr id="7" name="text-49"/>
          <p:cNvSpPr txBox="1"/>
          <p:nvPr/>
        </p:nvSpPr>
        <p:spPr>
          <a:xfrm>
            <a:off x="2011680" y="1463040"/>
            <a:ext cx="182880" cy="228600"/>
          </a:xfrm>
          <a:prstGeom prst="rect">
            <a:avLst/>
          </a:prstGeom>
          <a:noFill/>
          <a:ln/>
        </p:spPr>
        <p:txBody>
          <a:bodyPr wrap="square" lIns="0" tIns="0" rIns="0" bIns="0" rtlCol="0" anchor="t"/>
          <a:lstStyle/>
          <a:p>
            <a:pPr indent="0" marL="0">
              <a:buNone/>
            </a:pPr>
            <a:r>
              <a:rPr lang="en-US" sz="1200" dirty="0">
                <a:solidFill>
                  <a:schemeClr val="accent6"/>
                </a:solidFill>
              </a:rPr>
              <a:t>+</a:t>
            </a:r>
            <a:endParaRPr lang="en-US" sz="1200" dirty="0"/>
          </a:p>
        </p:txBody>
      </p:sp>
      <p:sp>
        <p:nvSpPr>
          <p:cNvPr id="8" name="text-50"/>
          <p:cNvSpPr txBox="1"/>
          <p:nvPr/>
        </p:nvSpPr>
        <p:spPr>
          <a:xfrm>
            <a:off x="2450592" y="2057400"/>
            <a:ext cx="182880" cy="228600"/>
          </a:xfrm>
          <a:prstGeom prst="rect">
            <a:avLst/>
          </a:prstGeom>
          <a:noFill/>
          <a:ln/>
        </p:spPr>
        <p:txBody>
          <a:bodyPr wrap="square" lIns="0" tIns="0" rIns="0" bIns="0" rtlCol="0" anchor="t"/>
          <a:lstStyle/>
          <a:p>
            <a:pPr indent="0" marL="0">
              <a:buNone/>
            </a:pPr>
            <a:r>
              <a:rPr lang="en-US" sz="1200" dirty="0">
                <a:solidFill>
                  <a:schemeClr val="accent6"/>
                </a:solidFill>
              </a:rPr>
              <a:t>−</a:t>
            </a:r>
            <a:endParaRPr lang="en-US" sz="1200" dirty="0"/>
          </a:p>
        </p:txBody>
      </p:sp>
      <p:sp>
        <p:nvSpPr>
          <p:cNvPr id="9" name="box-51"/>
          <p:cNvSpPr/>
          <p:nvPr/>
        </p:nvSpPr>
        <p:spPr>
          <a:xfrm>
            <a:off x="2926080" y="1554480"/>
            <a:ext cx="1737360" cy="640080"/>
          </a:xfrm>
          <a:prstGeom prst="roundRect">
            <a:avLst>
              <a:gd name="adj" fmla="val 11429"/>
            </a:avLst>
          </a:prstGeom>
          <a:solidFill>
            <a:schemeClr val="bg2"/>
          </a:solidFill>
          <a:ln w="25400">
            <a:solidFill>
              <a:schemeClr val="accent1"/>
            </a:solidFill>
            <a:prstDash val="solid"/>
          </a:ln>
        </p:spPr>
      </p:sp>
      <p:sp>
        <p:nvSpPr>
          <p:cNvPr id="10" name="box-text-52"/>
          <p:cNvSpPr txBox="1"/>
          <p:nvPr/>
        </p:nvSpPr>
        <p:spPr>
          <a:xfrm>
            <a:off x="2926080" y="1554480"/>
            <a:ext cx="1737360" cy="640080"/>
          </a:xfrm>
          <a:prstGeom prst="rect">
            <a:avLst/>
          </a:prstGeom>
          <a:noFill/>
          <a:ln/>
        </p:spPr>
        <p:txBody>
          <a:bodyPr wrap="square" lIns="508" tIns="508" rIns="508" bIns="508" rtlCol="0" anchor="ctr"/>
          <a:lstStyle/>
          <a:p>
            <a:pPr algn="ctr" indent="0" marL="0">
              <a:buNone/>
            </a:pPr>
            <a:r>
              <a:rPr lang="en-US" sz="1400" b="1" dirty="0">
                <a:solidFill>
                  <a:schemeClr val="tx1"/>
                </a:solidFill>
              </a:rPr>
              <a:t>Controller</a:t>
            </a:r>
            <a:endParaRPr lang="en-US" sz="1400" dirty="0"/>
          </a:p>
          <a:p>
            <a:pPr algn="ctr" indent="0" marL="0">
              <a:buNone/>
            </a:pPr>
            <a:r>
              <a:rPr lang="en-US" sz="1400" b="1" dirty="0">
                <a:solidFill>
                  <a:schemeClr val="tx1"/>
                </a:solidFill>
              </a:rPr>
              <a:t>PID / SMC / RL</a:t>
            </a:r>
            <a:endParaRPr lang="en-US" sz="1400" dirty="0"/>
          </a:p>
        </p:txBody>
      </p:sp>
      <p:sp>
        <p:nvSpPr>
          <p:cNvPr id="11" name="box-53"/>
          <p:cNvSpPr/>
          <p:nvPr/>
        </p:nvSpPr>
        <p:spPr>
          <a:xfrm>
            <a:off x="5166360" y="1554480"/>
            <a:ext cx="1737360" cy="640080"/>
          </a:xfrm>
          <a:prstGeom prst="roundRect">
            <a:avLst>
              <a:gd name="adj" fmla="val 11429"/>
            </a:avLst>
          </a:prstGeom>
          <a:solidFill>
            <a:schemeClr val="bg1"/>
          </a:solidFill>
          <a:ln w="15875">
            <a:solidFill>
              <a:schemeClr val="accent6"/>
            </a:solidFill>
            <a:prstDash val="solid"/>
          </a:ln>
        </p:spPr>
      </p:sp>
      <p:sp>
        <p:nvSpPr>
          <p:cNvPr id="12" name="box-text-54"/>
          <p:cNvSpPr txBox="1"/>
          <p:nvPr/>
        </p:nvSpPr>
        <p:spPr>
          <a:xfrm>
            <a:off x="5166360" y="1554480"/>
            <a:ext cx="1737360" cy="640080"/>
          </a:xfrm>
          <a:prstGeom prst="rect">
            <a:avLst/>
          </a:prstGeom>
          <a:noFill/>
          <a:ln/>
        </p:spPr>
        <p:txBody>
          <a:bodyPr wrap="square" lIns="508" tIns="508" rIns="508" bIns="508" rtlCol="0" anchor="ctr"/>
          <a:lstStyle/>
          <a:p>
            <a:pPr algn="ctr" indent="0" marL="0">
              <a:buNone/>
            </a:pPr>
            <a:r>
              <a:rPr lang="en-US" sz="1400" dirty="0">
                <a:solidFill>
                  <a:schemeClr val="tx1"/>
                </a:solidFill>
              </a:rPr>
              <a:t>Boost converter</a:t>
            </a:r>
            <a:endParaRPr lang="en-US" sz="1400" dirty="0"/>
          </a:p>
        </p:txBody>
      </p:sp>
      <p:sp>
        <p:nvSpPr>
          <p:cNvPr id="13" name="box-55"/>
          <p:cNvSpPr/>
          <p:nvPr/>
        </p:nvSpPr>
        <p:spPr>
          <a:xfrm>
            <a:off x="5166360" y="1005840"/>
            <a:ext cx="1737360" cy="347472"/>
          </a:xfrm>
          <a:prstGeom prst="roundRect">
            <a:avLst>
              <a:gd name="adj" fmla="val 21053"/>
            </a:avLst>
          </a:prstGeom>
          <a:solidFill>
            <a:schemeClr val="bg1"/>
          </a:solidFill>
          <a:ln w="15875">
            <a:solidFill>
              <a:schemeClr val="accent6"/>
            </a:solidFill>
            <a:prstDash val="dash"/>
          </a:ln>
        </p:spPr>
      </p:sp>
      <p:sp>
        <p:nvSpPr>
          <p:cNvPr id="14" name="box-text-56"/>
          <p:cNvSpPr txBox="1"/>
          <p:nvPr/>
        </p:nvSpPr>
        <p:spPr>
          <a:xfrm>
            <a:off x="5166360" y="1005840"/>
            <a:ext cx="1737360" cy="347472"/>
          </a:xfrm>
          <a:prstGeom prst="rect">
            <a:avLst/>
          </a:prstGeom>
          <a:noFill/>
          <a:ln/>
        </p:spPr>
        <p:txBody>
          <a:bodyPr wrap="square" lIns="508" tIns="508" rIns="508" bIns="508" rtlCol="0" anchor="ctr"/>
          <a:lstStyle/>
          <a:p>
            <a:pPr algn="ctr" indent="0" marL="0">
              <a:buNone/>
            </a:pPr>
            <a:r>
              <a:rPr lang="en-US" sz="1200" dirty="0">
                <a:solidFill>
                  <a:schemeClr val="tx1"/>
                </a:solidFill>
              </a:rPr>
              <a:t>Disturbances: Vin, R</a:t>
            </a:r>
            <a:endParaRPr lang="en-US" sz="1200" dirty="0"/>
          </a:p>
        </p:txBody>
      </p:sp>
      <p:sp>
        <p:nvSpPr>
          <p:cNvPr id="15" name="arrow-57"/>
          <p:cNvSpPr/>
          <p:nvPr/>
        </p:nvSpPr>
        <p:spPr>
          <a:xfrm>
            <a:off x="6035040" y="1353312"/>
            <a:ext cx="0" cy="201168"/>
          </a:xfrm>
          <a:prstGeom prst="line">
            <a:avLst/>
          </a:prstGeom>
          <a:noFill/>
          <a:ln w="19050">
            <a:solidFill>
              <a:schemeClr val="accent6"/>
            </a:solidFill>
            <a:prstDash val="solid"/>
            <a:tailEnd type="triangle"/>
          </a:ln>
        </p:spPr>
      </p:sp>
      <p:sp>
        <p:nvSpPr>
          <p:cNvPr id="16" name="arrow-58"/>
          <p:cNvSpPr/>
          <p:nvPr/>
        </p:nvSpPr>
        <p:spPr>
          <a:xfrm>
            <a:off x="1783080" y="1874520"/>
            <a:ext cx="365760" cy="0"/>
          </a:xfrm>
          <a:prstGeom prst="line">
            <a:avLst/>
          </a:prstGeom>
          <a:noFill/>
          <a:ln w="19050">
            <a:solidFill>
              <a:schemeClr val="accent6"/>
            </a:solidFill>
            <a:prstDash val="solid"/>
            <a:tailEnd type="triangle"/>
          </a:ln>
        </p:spPr>
      </p:sp>
      <p:sp>
        <p:nvSpPr>
          <p:cNvPr id="17" name="arrow-59"/>
          <p:cNvSpPr/>
          <p:nvPr/>
        </p:nvSpPr>
        <p:spPr>
          <a:xfrm>
            <a:off x="2514600" y="1874520"/>
            <a:ext cx="411480" cy="0"/>
          </a:xfrm>
          <a:prstGeom prst="line">
            <a:avLst/>
          </a:prstGeom>
          <a:noFill/>
          <a:ln w="19050">
            <a:solidFill>
              <a:schemeClr val="accent6"/>
            </a:solidFill>
            <a:prstDash val="solid"/>
            <a:tailEnd type="triangle"/>
          </a:ln>
        </p:spPr>
      </p:sp>
      <p:sp>
        <p:nvSpPr>
          <p:cNvPr id="18" name="arrow-60"/>
          <p:cNvSpPr/>
          <p:nvPr/>
        </p:nvSpPr>
        <p:spPr>
          <a:xfrm>
            <a:off x="4663440" y="1874520"/>
            <a:ext cx="502920" cy="0"/>
          </a:xfrm>
          <a:prstGeom prst="line">
            <a:avLst/>
          </a:prstGeom>
          <a:noFill/>
          <a:ln w="19050">
            <a:solidFill>
              <a:schemeClr val="accent6"/>
            </a:solidFill>
            <a:prstDash val="solid"/>
            <a:tailEnd type="triangle"/>
          </a:ln>
        </p:spPr>
      </p:sp>
      <p:sp>
        <p:nvSpPr>
          <p:cNvPr id="19" name="text-61"/>
          <p:cNvSpPr txBox="1"/>
          <p:nvPr/>
        </p:nvSpPr>
        <p:spPr>
          <a:xfrm>
            <a:off x="2514600" y="1627632"/>
            <a:ext cx="457200" cy="182880"/>
          </a:xfrm>
          <a:prstGeom prst="rect">
            <a:avLst/>
          </a:prstGeom>
          <a:noFill/>
          <a:ln/>
        </p:spPr>
        <p:txBody>
          <a:bodyPr wrap="square" lIns="0" tIns="0" rIns="0" bIns="0" rtlCol="0" anchor="t"/>
          <a:lstStyle/>
          <a:p>
            <a:pPr indent="0" marL="0">
              <a:buNone/>
            </a:pPr>
            <a:r>
              <a:rPr lang="en-US" sz="1000" dirty="0">
                <a:solidFill>
                  <a:schemeClr val="accent6"/>
                </a:solidFill>
              </a:rPr>
              <a:t>error e</a:t>
            </a:r>
            <a:endParaRPr lang="en-US" sz="1000" dirty="0"/>
          </a:p>
        </p:txBody>
      </p:sp>
      <p:sp>
        <p:nvSpPr>
          <p:cNvPr id="20" name="text-62"/>
          <p:cNvSpPr txBox="1"/>
          <p:nvPr/>
        </p:nvSpPr>
        <p:spPr>
          <a:xfrm>
            <a:off x="4727448" y="1627632"/>
            <a:ext cx="457200" cy="182880"/>
          </a:xfrm>
          <a:prstGeom prst="rect">
            <a:avLst/>
          </a:prstGeom>
          <a:noFill/>
          <a:ln/>
        </p:spPr>
        <p:txBody>
          <a:bodyPr wrap="square" lIns="0" tIns="0" rIns="0" bIns="0" rtlCol="0" anchor="t"/>
          <a:lstStyle/>
          <a:p>
            <a:pPr indent="0" marL="0">
              <a:buNone/>
            </a:pPr>
            <a:r>
              <a:rPr lang="en-US" sz="1000" dirty="0">
                <a:solidFill>
                  <a:schemeClr val="accent6"/>
                </a:solidFill>
              </a:rPr>
              <a:t>duty D</a:t>
            </a:r>
            <a:endParaRPr lang="en-US" sz="1000" dirty="0"/>
          </a:p>
        </p:txBody>
      </p:sp>
      <p:sp>
        <p:nvSpPr>
          <p:cNvPr id="21" name="arrow-63"/>
          <p:cNvSpPr/>
          <p:nvPr/>
        </p:nvSpPr>
        <p:spPr>
          <a:xfrm>
            <a:off x="6903720" y="1874520"/>
            <a:ext cx="1051560" cy="0"/>
          </a:xfrm>
          <a:prstGeom prst="line">
            <a:avLst/>
          </a:prstGeom>
          <a:noFill/>
          <a:ln w="19050">
            <a:solidFill>
              <a:schemeClr val="accent6"/>
            </a:solidFill>
            <a:prstDash val="solid"/>
            <a:tailEnd type="triangle"/>
          </a:ln>
        </p:spPr>
      </p:sp>
      <p:sp>
        <p:nvSpPr>
          <p:cNvPr id="22" name="text-64"/>
          <p:cNvSpPr txBox="1"/>
          <p:nvPr/>
        </p:nvSpPr>
        <p:spPr>
          <a:xfrm>
            <a:off x="7315200" y="1600200"/>
            <a:ext cx="548640" cy="228600"/>
          </a:xfrm>
          <a:prstGeom prst="rect">
            <a:avLst/>
          </a:prstGeom>
          <a:noFill/>
          <a:ln/>
        </p:spPr>
        <p:txBody>
          <a:bodyPr wrap="square" lIns="0" tIns="0" rIns="0" bIns="0" rtlCol="0" anchor="t"/>
          <a:lstStyle/>
          <a:p>
            <a:pPr indent="0" marL="0">
              <a:buNone/>
            </a:pPr>
            <a:r>
              <a:rPr lang="en-US" sz="1200" b="1" dirty="0">
                <a:solidFill>
                  <a:schemeClr val="tx2"/>
                </a:solidFill>
              </a:rPr>
              <a:t>Vout</a:t>
            </a:r>
            <a:endParaRPr lang="en-US" sz="1200" dirty="0"/>
          </a:p>
        </p:txBody>
      </p:sp>
      <p:sp>
        <p:nvSpPr>
          <p:cNvPr id="23" name="wire-65"/>
          <p:cNvSpPr/>
          <p:nvPr/>
        </p:nvSpPr>
        <p:spPr>
          <a:xfrm>
            <a:off x="7589520" y="1874520"/>
            <a:ext cx="0" cy="868680"/>
          </a:xfrm>
          <a:prstGeom prst="line">
            <a:avLst/>
          </a:prstGeom>
          <a:noFill/>
          <a:ln w="19050">
            <a:solidFill>
              <a:schemeClr val="accent6"/>
            </a:solidFill>
            <a:prstDash val="solid"/>
          </a:ln>
        </p:spPr>
      </p:sp>
      <p:sp>
        <p:nvSpPr>
          <p:cNvPr id="24" name="wire-66"/>
          <p:cNvSpPr/>
          <p:nvPr/>
        </p:nvSpPr>
        <p:spPr>
          <a:xfrm>
            <a:off x="2331720" y="2743200"/>
            <a:ext cx="5257800" cy="0"/>
          </a:xfrm>
          <a:prstGeom prst="line">
            <a:avLst/>
          </a:prstGeom>
          <a:noFill/>
          <a:ln w="19050">
            <a:solidFill>
              <a:schemeClr val="accent6"/>
            </a:solidFill>
            <a:prstDash val="solid"/>
          </a:ln>
        </p:spPr>
      </p:sp>
      <p:sp>
        <p:nvSpPr>
          <p:cNvPr id="25" name="arrow-67"/>
          <p:cNvSpPr/>
          <p:nvPr/>
        </p:nvSpPr>
        <p:spPr>
          <a:xfrm flipV="1">
            <a:off x="2331720" y="2057400"/>
            <a:ext cx="0" cy="685800"/>
          </a:xfrm>
          <a:prstGeom prst="line">
            <a:avLst/>
          </a:prstGeom>
          <a:noFill/>
          <a:ln w="19050">
            <a:solidFill>
              <a:schemeClr val="accent6"/>
            </a:solidFill>
            <a:prstDash val="solid"/>
            <a:tailEnd type="triangle"/>
          </a:ln>
        </p:spPr>
      </p:sp>
      <p:sp>
        <p:nvSpPr>
          <p:cNvPr id="26" name="text-68"/>
          <p:cNvSpPr txBox="1"/>
          <p:nvPr/>
        </p:nvSpPr>
        <p:spPr>
          <a:xfrm>
            <a:off x="3931920" y="2788920"/>
            <a:ext cx="2194560" cy="228600"/>
          </a:xfrm>
          <a:prstGeom prst="rect">
            <a:avLst/>
          </a:prstGeom>
          <a:noFill/>
          <a:ln/>
        </p:spPr>
        <p:txBody>
          <a:bodyPr wrap="square" lIns="0" tIns="0" rIns="0" bIns="0" rtlCol="0" anchor="t"/>
          <a:lstStyle/>
          <a:p>
            <a:pPr indent="0" marL="0">
              <a:buNone/>
            </a:pPr>
            <a:r>
              <a:rPr lang="en-US" sz="1100" dirty="0">
                <a:solidFill>
                  <a:schemeClr val="accent6"/>
                </a:solidFill>
              </a:rPr>
              <a:t>sensor: measured Vout</a:t>
            </a:r>
            <a:endParaRPr lang="en-US" sz="1100" dirty="0"/>
          </a:p>
        </p:txBody>
      </p:sp>
      <p:sp>
        <p:nvSpPr>
          <p:cNvPr id="27" name="box-69"/>
          <p:cNvSpPr/>
          <p:nvPr/>
        </p:nvSpPr>
        <p:spPr>
          <a:xfrm>
            <a:off x="457200" y="3200400"/>
            <a:ext cx="1965960" cy="365760"/>
          </a:xfrm>
          <a:prstGeom prst="roundRect">
            <a:avLst>
              <a:gd name="adj" fmla="val 20000"/>
            </a:avLst>
          </a:prstGeom>
          <a:solidFill>
            <a:schemeClr val="bg2"/>
          </a:solidFill>
          <a:ln w="15875">
            <a:solidFill>
              <a:schemeClr val="accent1"/>
            </a:solidFill>
            <a:prstDash val="solid"/>
          </a:ln>
        </p:spPr>
      </p:sp>
      <p:sp>
        <p:nvSpPr>
          <p:cNvPr id="28" name="box-text-70"/>
          <p:cNvSpPr txBox="1"/>
          <p:nvPr/>
        </p:nvSpPr>
        <p:spPr>
          <a:xfrm>
            <a:off x="457200" y="3200400"/>
            <a:ext cx="1965960" cy="365760"/>
          </a:xfrm>
          <a:prstGeom prst="rect">
            <a:avLst/>
          </a:prstGeom>
          <a:noFill/>
          <a:ln/>
        </p:spPr>
        <p:txBody>
          <a:bodyPr wrap="square" lIns="508" tIns="508" rIns="508" bIns="508" rtlCol="0" anchor="ctr"/>
          <a:lstStyle/>
          <a:p>
            <a:pPr algn="ctr" indent="0" marL="0">
              <a:buNone/>
            </a:pPr>
            <a:r>
              <a:rPr lang="en-US" sz="1300" dirty="0">
                <a:solidFill>
                  <a:schemeClr val="tx1"/>
                </a:solidFill>
              </a:rPr>
              <a:t>Settling time (±2 %)</a:t>
            </a:r>
            <a:endParaRPr lang="en-US" sz="1300" dirty="0"/>
          </a:p>
        </p:txBody>
      </p:sp>
      <p:sp>
        <p:nvSpPr>
          <p:cNvPr id="29" name="box-71"/>
          <p:cNvSpPr/>
          <p:nvPr/>
        </p:nvSpPr>
        <p:spPr>
          <a:xfrm>
            <a:off x="2560320" y="3200400"/>
            <a:ext cx="1965960" cy="365760"/>
          </a:xfrm>
          <a:prstGeom prst="roundRect">
            <a:avLst>
              <a:gd name="adj" fmla="val 20000"/>
            </a:avLst>
          </a:prstGeom>
          <a:solidFill>
            <a:schemeClr val="bg2"/>
          </a:solidFill>
          <a:ln w="15875">
            <a:solidFill>
              <a:schemeClr val="accent1"/>
            </a:solidFill>
            <a:prstDash val="solid"/>
          </a:ln>
        </p:spPr>
      </p:sp>
      <p:sp>
        <p:nvSpPr>
          <p:cNvPr id="30" name="box-text-72"/>
          <p:cNvSpPr txBox="1"/>
          <p:nvPr/>
        </p:nvSpPr>
        <p:spPr>
          <a:xfrm>
            <a:off x="2560320" y="3200400"/>
            <a:ext cx="1965960" cy="365760"/>
          </a:xfrm>
          <a:prstGeom prst="rect">
            <a:avLst/>
          </a:prstGeom>
          <a:noFill/>
          <a:ln/>
        </p:spPr>
        <p:txBody>
          <a:bodyPr wrap="square" lIns="508" tIns="508" rIns="508" bIns="508" rtlCol="0" anchor="ctr"/>
          <a:lstStyle/>
          <a:p>
            <a:pPr algn="ctr" indent="0" marL="0">
              <a:buNone/>
            </a:pPr>
            <a:r>
              <a:rPr lang="en-US" sz="1300" dirty="0">
                <a:solidFill>
                  <a:schemeClr val="tx1"/>
                </a:solidFill>
              </a:rPr>
              <a:t>Overshoot / startup dip</a:t>
            </a:r>
            <a:endParaRPr lang="en-US" sz="1300" dirty="0"/>
          </a:p>
        </p:txBody>
      </p:sp>
      <p:sp>
        <p:nvSpPr>
          <p:cNvPr id="31" name="box-73"/>
          <p:cNvSpPr/>
          <p:nvPr/>
        </p:nvSpPr>
        <p:spPr>
          <a:xfrm>
            <a:off x="4663440" y="3200400"/>
            <a:ext cx="1965960" cy="365760"/>
          </a:xfrm>
          <a:prstGeom prst="roundRect">
            <a:avLst>
              <a:gd name="adj" fmla="val 20000"/>
            </a:avLst>
          </a:prstGeom>
          <a:solidFill>
            <a:schemeClr val="bg2"/>
          </a:solidFill>
          <a:ln w="15875">
            <a:solidFill>
              <a:schemeClr val="accent1"/>
            </a:solidFill>
            <a:prstDash val="solid"/>
          </a:ln>
        </p:spPr>
      </p:sp>
      <p:sp>
        <p:nvSpPr>
          <p:cNvPr id="32" name="box-text-74"/>
          <p:cNvSpPr txBox="1"/>
          <p:nvPr/>
        </p:nvSpPr>
        <p:spPr>
          <a:xfrm>
            <a:off x="4663440" y="3200400"/>
            <a:ext cx="1965960" cy="365760"/>
          </a:xfrm>
          <a:prstGeom prst="rect">
            <a:avLst/>
          </a:prstGeom>
          <a:noFill/>
          <a:ln/>
        </p:spPr>
        <p:txBody>
          <a:bodyPr wrap="square" lIns="508" tIns="508" rIns="508" bIns="508" rtlCol="0" anchor="ctr"/>
          <a:lstStyle/>
          <a:p>
            <a:pPr algn="ctr" indent="0" marL="0">
              <a:buNone/>
            </a:pPr>
            <a:r>
              <a:rPr lang="en-US" sz="1300" dirty="0">
                <a:solidFill>
                  <a:schemeClr val="tx1"/>
                </a:solidFill>
              </a:rPr>
              <a:t>RMS error</a:t>
            </a:r>
            <a:endParaRPr lang="en-US" sz="1300" dirty="0"/>
          </a:p>
        </p:txBody>
      </p:sp>
      <p:sp>
        <p:nvSpPr>
          <p:cNvPr id="33" name="box-75"/>
          <p:cNvSpPr/>
          <p:nvPr/>
        </p:nvSpPr>
        <p:spPr>
          <a:xfrm>
            <a:off x="6766560" y="3200400"/>
            <a:ext cx="1965960" cy="365760"/>
          </a:xfrm>
          <a:prstGeom prst="roundRect">
            <a:avLst>
              <a:gd name="adj" fmla="val 20000"/>
            </a:avLst>
          </a:prstGeom>
          <a:solidFill>
            <a:schemeClr val="bg2"/>
          </a:solidFill>
          <a:ln w="15875">
            <a:solidFill>
              <a:schemeClr val="accent1"/>
            </a:solidFill>
            <a:prstDash val="solid"/>
          </a:ln>
        </p:spPr>
      </p:sp>
      <p:sp>
        <p:nvSpPr>
          <p:cNvPr id="34" name="box-text-76"/>
          <p:cNvSpPr txBox="1"/>
          <p:nvPr/>
        </p:nvSpPr>
        <p:spPr>
          <a:xfrm>
            <a:off x="6766560" y="3200400"/>
            <a:ext cx="1965960" cy="365760"/>
          </a:xfrm>
          <a:prstGeom prst="rect">
            <a:avLst/>
          </a:prstGeom>
          <a:noFill/>
          <a:ln/>
        </p:spPr>
        <p:txBody>
          <a:bodyPr wrap="square" lIns="508" tIns="508" rIns="508" bIns="508" rtlCol="0" anchor="ctr"/>
          <a:lstStyle/>
          <a:p>
            <a:pPr algn="ctr" indent="0" marL="0">
              <a:buNone/>
            </a:pPr>
            <a:r>
              <a:rPr lang="en-US" sz="1300" dirty="0">
                <a:solidFill>
                  <a:schemeClr val="tx1"/>
                </a:solidFill>
              </a:rPr>
              <a:t>Max deviation after step</a:t>
            </a:r>
            <a:endParaRPr lang="en-US" sz="1300" dirty="0"/>
          </a:p>
        </p:txBody>
      </p:sp>
      <p:sp>
        <p:nvSpPr>
          <p:cNvPr id="35" name="box-77"/>
          <p:cNvSpPr/>
          <p:nvPr/>
        </p:nvSpPr>
        <p:spPr>
          <a:xfrm>
            <a:off x="457200" y="3657600"/>
            <a:ext cx="1965960" cy="365760"/>
          </a:xfrm>
          <a:prstGeom prst="roundRect">
            <a:avLst>
              <a:gd name="adj" fmla="val 20000"/>
            </a:avLst>
          </a:prstGeom>
          <a:solidFill>
            <a:schemeClr val="bg2"/>
          </a:solidFill>
          <a:ln w="15875">
            <a:solidFill>
              <a:schemeClr val="accent1"/>
            </a:solidFill>
            <a:prstDash val="solid"/>
          </a:ln>
        </p:spPr>
      </p:sp>
      <p:sp>
        <p:nvSpPr>
          <p:cNvPr id="36" name="box-text-78"/>
          <p:cNvSpPr txBox="1"/>
          <p:nvPr/>
        </p:nvSpPr>
        <p:spPr>
          <a:xfrm>
            <a:off x="457200" y="3657600"/>
            <a:ext cx="1965960" cy="365760"/>
          </a:xfrm>
          <a:prstGeom prst="rect">
            <a:avLst/>
          </a:prstGeom>
          <a:noFill/>
          <a:ln/>
        </p:spPr>
        <p:txBody>
          <a:bodyPr wrap="square" lIns="508" tIns="508" rIns="508" bIns="508" rtlCol="0" anchor="ctr"/>
          <a:lstStyle/>
          <a:p>
            <a:pPr algn="ctr" indent="0" marL="0">
              <a:buNone/>
            </a:pPr>
            <a:r>
              <a:rPr lang="en-US" sz="1300" dirty="0">
                <a:solidFill>
                  <a:schemeClr val="tx1"/>
                </a:solidFill>
              </a:rPr>
              <a:t>Recovery time</a:t>
            </a:r>
            <a:endParaRPr lang="en-US" sz="1300" dirty="0"/>
          </a:p>
        </p:txBody>
      </p:sp>
      <p:sp>
        <p:nvSpPr>
          <p:cNvPr id="37" name="box-79"/>
          <p:cNvSpPr/>
          <p:nvPr/>
        </p:nvSpPr>
        <p:spPr>
          <a:xfrm>
            <a:off x="2560320" y="3657600"/>
            <a:ext cx="1965960" cy="365760"/>
          </a:xfrm>
          <a:prstGeom prst="roundRect">
            <a:avLst>
              <a:gd name="adj" fmla="val 20000"/>
            </a:avLst>
          </a:prstGeom>
          <a:solidFill>
            <a:schemeClr val="bg2"/>
          </a:solidFill>
          <a:ln w="15875">
            <a:solidFill>
              <a:schemeClr val="accent1"/>
            </a:solidFill>
            <a:prstDash val="solid"/>
          </a:ln>
        </p:spPr>
      </p:sp>
      <p:sp>
        <p:nvSpPr>
          <p:cNvPr id="38" name="box-text-80"/>
          <p:cNvSpPr txBox="1"/>
          <p:nvPr/>
        </p:nvSpPr>
        <p:spPr>
          <a:xfrm>
            <a:off x="2560320" y="3657600"/>
            <a:ext cx="1965960" cy="365760"/>
          </a:xfrm>
          <a:prstGeom prst="rect">
            <a:avLst/>
          </a:prstGeom>
          <a:noFill/>
          <a:ln/>
        </p:spPr>
        <p:txBody>
          <a:bodyPr wrap="square" lIns="508" tIns="508" rIns="508" bIns="508" rtlCol="0" anchor="ctr"/>
          <a:lstStyle/>
          <a:p>
            <a:pPr algn="ctr" indent="0" marL="0">
              <a:buNone/>
            </a:pPr>
            <a:r>
              <a:rPr lang="en-US" sz="1300" dirty="0">
                <a:solidFill>
                  <a:schemeClr val="tx1"/>
                </a:solidFill>
              </a:rPr>
              <a:t>Duty variation</a:t>
            </a:r>
            <a:endParaRPr lang="en-US" sz="1300" dirty="0"/>
          </a:p>
        </p:txBody>
      </p:sp>
      <p:sp>
        <p:nvSpPr>
          <p:cNvPr id="39" name="box-81"/>
          <p:cNvSpPr/>
          <p:nvPr/>
        </p:nvSpPr>
        <p:spPr>
          <a:xfrm>
            <a:off x="4663440" y="3657600"/>
            <a:ext cx="1965960" cy="365760"/>
          </a:xfrm>
          <a:prstGeom prst="roundRect">
            <a:avLst>
              <a:gd name="adj" fmla="val 20000"/>
            </a:avLst>
          </a:prstGeom>
          <a:solidFill>
            <a:schemeClr val="bg2"/>
          </a:solidFill>
          <a:ln w="15875">
            <a:solidFill>
              <a:schemeClr val="accent1"/>
            </a:solidFill>
            <a:prstDash val="solid"/>
          </a:ln>
        </p:spPr>
      </p:sp>
      <p:sp>
        <p:nvSpPr>
          <p:cNvPr id="40" name="box-text-82"/>
          <p:cNvSpPr txBox="1"/>
          <p:nvPr/>
        </p:nvSpPr>
        <p:spPr>
          <a:xfrm>
            <a:off x="4663440" y="3657600"/>
            <a:ext cx="1965960" cy="365760"/>
          </a:xfrm>
          <a:prstGeom prst="rect">
            <a:avLst/>
          </a:prstGeom>
          <a:noFill/>
          <a:ln/>
        </p:spPr>
        <p:txBody>
          <a:bodyPr wrap="square" lIns="508" tIns="508" rIns="508" bIns="508" rtlCol="0" anchor="ctr"/>
          <a:lstStyle/>
          <a:p>
            <a:pPr algn="ctr" indent="0" marL="0">
              <a:buNone/>
            </a:pPr>
            <a:r>
              <a:rPr lang="en-US" sz="1300" dirty="0">
                <a:solidFill>
                  <a:schemeClr val="tx1"/>
                </a:solidFill>
              </a:rPr>
              <a:t>Inductor current</a:t>
            </a:r>
            <a:endParaRPr lang="en-US" sz="1300" dirty="0"/>
          </a:p>
        </p:txBody>
      </p:sp>
      <p:sp>
        <p:nvSpPr>
          <p:cNvPr id="41" name="box-83"/>
          <p:cNvSpPr/>
          <p:nvPr/>
        </p:nvSpPr>
        <p:spPr>
          <a:xfrm>
            <a:off x="6766560" y="3657600"/>
            <a:ext cx="1965960" cy="365760"/>
          </a:xfrm>
          <a:prstGeom prst="roundRect">
            <a:avLst>
              <a:gd name="adj" fmla="val 20000"/>
            </a:avLst>
          </a:prstGeom>
          <a:solidFill>
            <a:schemeClr val="bg2"/>
          </a:solidFill>
          <a:ln w="15875">
            <a:solidFill>
              <a:schemeClr val="accent1"/>
            </a:solidFill>
            <a:prstDash val="solid"/>
          </a:ln>
        </p:spPr>
      </p:sp>
      <p:sp>
        <p:nvSpPr>
          <p:cNvPr id="42" name="box-text-84"/>
          <p:cNvSpPr txBox="1"/>
          <p:nvPr/>
        </p:nvSpPr>
        <p:spPr>
          <a:xfrm>
            <a:off x="6766560" y="3657600"/>
            <a:ext cx="1965960" cy="365760"/>
          </a:xfrm>
          <a:prstGeom prst="rect">
            <a:avLst/>
          </a:prstGeom>
          <a:noFill/>
          <a:ln/>
        </p:spPr>
        <p:txBody>
          <a:bodyPr wrap="square" lIns="508" tIns="508" rIns="508" bIns="508" rtlCol="0" anchor="ctr"/>
          <a:lstStyle/>
          <a:p>
            <a:pPr algn="ctr" indent="0" marL="0">
              <a:buNone/>
            </a:pPr>
            <a:r>
              <a:rPr lang="en-US" sz="1300" dirty="0">
                <a:solidFill>
                  <a:schemeClr val="tx1"/>
                </a:solidFill>
              </a:rPr>
              <a:t>Protection trips</a:t>
            </a:r>
            <a:endParaRPr lang="en-US" sz="1300" dirty="0"/>
          </a:p>
        </p:txBody>
      </p:sp>
      <p:sp>
        <p:nvSpPr>
          <p:cNvPr id="43" name="text-85"/>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300" dirty="0">
                <a:solidFill>
                  <a:schemeClr val="tx1"/>
                </a:solidFill>
              </a:rPr>
              <a:t>5 scenarios, each: cold start → regulate to 24 V → one disturbance at 150 ms (300 ms total):  nominal · Vin 12→10 V · Vin 12→14 V · R 20→10 Ω · R 20→30 Ω</a:t>
            </a:r>
            <a:endParaRPr lang="en-US" sz="13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Baseline 1: a tuned PID controller</a:t>
            </a:r>
            <a:endParaRPr lang="en-US" sz="3000" dirty="0"/>
          </a:p>
        </p:txBody>
      </p:sp>
      <p:sp>
        <p:nvSpPr>
          <p:cNvPr id="4" name="text-86"/>
          <p:cNvSpPr txBox="1"/>
          <p:nvPr/>
        </p:nvSpPr>
        <p:spPr>
          <a:xfrm>
            <a:off x="457200" y="1143000"/>
            <a:ext cx="3429000" cy="25146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Anti-windup and a filtered derivative on the measurement</a:t>
            </a:r>
            <a:endParaRPr lang="en-US" sz="1400" dirty="0"/>
          </a:p>
          <a:p>
            <a:pPr marL="203200" indent="-203200">
              <a:spcAft>
                <a:spcPts val="600"/>
              </a:spcAft>
              <a:buSzPct val="100000"/>
              <a:buChar char="•"/>
            </a:pPr>
            <a:r>
              <a:rPr lang="en-US" sz="1400" dirty="0">
                <a:solidFill>
                  <a:schemeClr val="tx1"/>
                </a:solidFill>
              </a:rPr>
              <a:t>Plant analysis: right-half-plane zero ≈ 5000 rad/s caps the bandwidth</a:t>
            </a:r>
            <a:endParaRPr lang="en-US" sz="1400" dirty="0"/>
          </a:p>
          <a:p>
            <a:pPr marL="203200" indent="-203200">
              <a:spcAft>
                <a:spcPts val="600"/>
              </a:spcAft>
              <a:buSzPct val="100000"/>
              <a:buChar char="•"/>
            </a:pPr>
            <a:r>
              <a:rPr lang="en-US" sz="1400" dirty="0">
                <a:solidFill>
                  <a:schemeClr val="tx1"/>
                </a:solidFill>
              </a:rPr>
              <a:t>Robust design on 27 operating points (PM ≥ 45°, GM ≥ 6 dB)</a:t>
            </a:r>
            <a:endParaRPr lang="en-US" sz="1400" dirty="0"/>
          </a:p>
          <a:p>
            <a:pPr marL="203200" indent="-203200">
              <a:spcAft>
                <a:spcPts val="600"/>
              </a:spcAft>
              <a:buSzPct val="100000"/>
              <a:buChar char="•"/>
            </a:pPr>
            <a:r>
              <a:rPr lang="en-US" sz="1400" dirty="0">
                <a:solidFill>
                  <a:schemeClr val="tx1"/>
                </a:solidFill>
              </a:rPr>
              <a:t>Time-domain refinement on the five scenarios</a:t>
            </a:r>
            <a:endParaRPr lang="en-US" sz="1400" dirty="0"/>
          </a:p>
        </p:txBody>
      </p:sp>
      <p:sp>
        <p:nvSpPr>
          <p:cNvPr id="5" name="card-87"/>
          <p:cNvSpPr/>
          <p:nvPr/>
        </p:nvSpPr>
        <p:spPr>
          <a:xfrm>
            <a:off x="457200" y="3749040"/>
            <a:ext cx="1097280" cy="822960"/>
          </a:xfrm>
          <a:prstGeom prst="roundRect">
            <a:avLst>
              <a:gd name="adj" fmla="val 11111"/>
            </a:avLst>
          </a:prstGeom>
          <a:solidFill>
            <a:schemeClr val="bg2"/>
          </a:solidFill>
          <a:ln/>
        </p:spPr>
      </p:sp>
      <p:sp>
        <p:nvSpPr>
          <p:cNvPr id="6" name="text-88"/>
          <p:cNvSpPr txBox="1"/>
          <p:nvPr/>
        </p:nvSpPr>
        <p:spPr>
          <a:xfrm>
            <a:off x="457200" y="3813048"/>
            <a:ext cx="1097280" cy="228600"/>
          </a:xfrm>
          <a:prstGeom prst="rect">
            <a:avLst/>
          </a:prstGeom>
          <a:noFill/>
          <a:ln/>
        </p:spPr>
        <p:txBody>
          <a:bodyPr wrap="square" lIns="0" tIns="0" rIns="0" bIns="0" rtlCol="0" anchor="t"/>
          <a:lstStyle/>
          <a:p>
            <a:pPr algn="ctr" indent="0" marL="0">
              <a:buNone/>
            </a:pPr>
            <a:r>
              <a:rPr lang="en-US" sz="1200" dirty="0">
                <a:solidFill>
                  <a:schemeClr val="accent6"/>
                </a:solidFill>
              </a:rPr>
              <a:t>Kp</a:t>
            </a:r>
            <a:endParaRPr lang="en-US" sz="1200" dirty="0"/>
          </a:p>
        </p:txBody>
      </p:sp>
      <p:sp>
        <p:nvSpPr>
          <p:cNvPr id="7" name="text-89"/>
          <p:cNvSpPr txBox="1"/>
          <p:nvPr/>
        </p:nvSpPr>
        <p:spPr>
          <a:xfrm>
            <a:off x="457200" y="4069080"/>
            <a:ext cx="1097280" cy="365760"/>
          </a:xfrm>
          <a:prstGeom prst="rect">
            <a:avLst/>
          </a:prstGeom>
          <a:noFill/>
          <a:ln/>
        </p:spPr>
        <p:txBody>
          <a:bodyPr wrap="square" lIns="0" tIns="0" rIns="0" bIns="0" rtlCol="0" anchor="t"/>
          <a:lstStyle/>
          <a:p>
            <a:pPr algn="ctr" indent="0" marL="0">
              <a:buNone/>
            </a:pPr>
            <a:r>
              <a:rPr lang="en-US" sz="1400" b="1" dirty="0">
                <a:solidFill>
                  <a:schemeClr val="accent1"/>
                </a:solidFill>
              </a:rPr>
              <a:t>0.0049154</a:t>
            </a:r>
            <a:endParaRPr lang="en-US" sz="1400" dirty="0"/>
          </a:p>
        </p:txBody>
      </p:sp>
      <p:sp>
        <p:nvSpPr>
          <p:cNvPr id="8" name="card-90"/>
          <p:cNvSpPr/>
          <p:nvPr/>
        </p:nvSpPr>
        <p:spPr>
          <a:xfrm>
            <a:off x="1645920" y="3749040"/>
            <a:ext cx="1097280" cy="822960"/>
          </a:xfrm>
          <a:prstGeom prst="roundRect">
            <a:avLst>
              <a:gd name="adj" fmla="val 11111"/>
            </a:avLst>
          </a:prstGeom>
          <a:solidFill>
            <a:schemeClr val="bg2"/>
          </a:solidFill>
          <a:ln/>
        </p:spPr>
      </p:sp>
      <p:sp>
        <p:nvSpPr>
          <p:cNvPr id="9" name="text-91"/>
          <p:cNvSpPr txBox="1"/>
          <p:nvPr/>
        </p:nvSpPr>
        <p:spPr>
          <a:xfrm>
            <a:off x="1645920" y="3813048"/>
            <a:ext cx="1097280" cy="228600"/>
          </a:xfrm>
          <a:prstGeom prst="rect">
            <a:avLst/>
          </a:prstGeom>
          <a:noFill/>
          <a:ln/>
        </p:spPr>
        <p:txBody>
          <a:bodyPr wrap="square" lIns="0" tIns="0" rIns="0" bIns="0" rtlCol="0" anchor="t"/>
          <a:lstStyle/>
          <a:p>
            <a:pPr algn="ctr" indent="0" marL="0">
              <a:buNone/>
            </a:pPr>
            <a:r>
              <a:rPr lang="en-US" sz="1200" dirty="0">
                <a:solidFill>
                  <a:schemeClr val="accent6"/>
                </a:solidFill>
              </a:rPr>
              <a:t>Ki</a:t>
            </a:r>
            <a:endParaRPr lang="en-US" sz="1200" dirty="0"/>
          </a:p>
        </p:txBody>
      </p:sp>
      <p:sp>
        <p:nvSpPr>
          <p:cNvPr id="10" name="text-92"/>
          <p:cNvSpPr txBox="1"/>
          <p:nvPr/>
        </p:nvSpPr>
        <p:spPr>
          <a:xfrm>
            <a:off x="1645920" y="4069080"/>
            <a:ext cx="1097280" cy="365760"/>
          </a:xfrm>
          <a:prstGeom prst="rect">
            <a:avLst/>
          </a:prstGeom>
          <a:noFill/>
          <a:ln/>
        </p:spPr>
        <p:txBody>
          <a:bodyPr wrap="square" lIns="0" tIns="0" rIns="0" bIns="0" rtlCol="0" anchor="t"/>
          <a:lstStyle/>
          <a:p>
            <a:pPr algn="ctr" indent="0" marL="0">
              <a:buNone/>
            </a:pPr>
            <a:r>
              <a:rPr lang="en-US" sz="1400" b="1" dirty="0">
                <a:solidFill>
                  <a:schemeClr val="accent1"/>
                </a:solidFill>
              </a:rPr>
              <a:t>6.6994</a:t>
            </a:r>
            <a:endParaRPr lang="en-US" sz="1400" dirty="0"/>
          </a:p>
        </p:txBody>
      </p:sp>
      <p:sp>
        <p:nvSpPr>
          <p:cNvPr id="11" name="card-93"/>
          <p:cNvSpPr/>
          <p:nvPr/>
        </p:nvSpPr>
        <p:spPr>
          <a:xfrm>
            <a:off x="2834640" y="3749040"/>
            <a:ext cx="1097280" cy="822960"/>
          </a:xfrm>
          <a:prstGeom prst="roundRect">
            <a:avLst>
              <a:gd name="adj" fmla="val 11111"/>
            </a:avLst>
          </a:prstGeom>
          <a:solidFill>
            <a:schemeClr val="bg2"/>
          </a:solidFill>
          <a:ln/>
        </p:spPr>
      </p:sp>
      <p:sp>
        <p:nvSpPr>
          <p:cNvPr id="12" name="text-94"/>
          <p:cNvSpPr txBox="1"/>
          <p:nvPr/>
        </p:nvSpPr>
        <p:spPr>
          <a:xfrm>
            <a:off x="2834640" y="3813048"/>
            <a:ext cx="1097280" cy="228600"/>
          </a:xfrm>
          <a:prstGeom prst="rect">
            <a:avLst/>
          </a:prstGeom>
          <a:noFill/>
          <a:ln/>
        </p:spPr>
        <p:txBody>
          <a:bodyPr wrap="square" lIns="0" tIns="0" rIns="0" bIns="0" rtlCol="0" anchor="t"/>
          <a:lstStyle/>
          <a:p>
            <a:pPr algn="ctr" indent="0" marL="0">
              <a:buNone/>
            </a:pPr>
            <a:r>
              <a:rPr lang="en-US" sz="1200" dirty="0">
                <a:solidFill>
                  <a:schemeClr val="accent6"/>
                </a:solidFill>
              </a:rPr>
              <a:t>Kd</a:t>
            </a:r>
            <a:endParaRPr lang="en-US" sz="1200" dirty="0"/>
          </a:p>
        </p:txBody>
      </p:sp>
      <p:sp>
        <p:nvSpPr>
          <p:cNvPr id="13" name="text-95"/>
          <p:cNvSpPr txBox="1"/>
          <p:nvPr/>
        </p:nvSpPr>
        <p:spPr>
          <a:xfrm>
            <a:off x="2834640" y="4069080"/>
            <a:ext cx="1097280" cy="365760"/>
          </a:xfrm>
          <a:prstGeom prst="rect">
            <a:avLst/>
          </a:prstGeom>
          <a:noFill/>
          <a:ln/>
        </p:spPr>
        <p:txBody>
          <a:bodyPr wrap="square" lIns="0" tIns="0" rIns="0" bIns="0" rtlCol="0" anchor="t"/>
          <a:lstStyle/>
          <a:p>
            <a:pPr algn="ctr" indent="0" marL="0">
              <a:buNone/>
            </a:pPr>
            <a:r>
              <a:rPr lang="en-US" sz="1400" b="1" dirty="0">
                <a:solidFill>
                  <a:schemeClr val="accent1"/>
                </a:solidFill>
              </a:rPr>
              <a:t>2.74e-5</a:t>
            </a:r>
            <a:endParaRPr lang="en-US" sz="1400" dirty="0"/>
          </a:p>
        </p:txBody>
      </p:sp>
      <p:pic>
        <p:nvPicPr>
          <p:cNvPr id="14" name="figure-96" descr="PID Vref versus Vout for the five scenarios">    </p:cNvPr>
          <p:cNvPicPr>
            <a:picLocks noChangeAspect="1"/>
          </p:cNvPicPr>
          <p:nvPr/>
        </p:nvPicPr>
        <p:blipFill>
          <a:blip r:embed="rId1"/>
          <a:stretch>
            <a:fillRect/>
          </a:stretch>
        </p:blipFill>
        <p:spPr>
          <a:xfrm>
            <a:off x="4023360" y="1143000"/>
            <a:ext cx="4663440" cy="1976034"/>
          </a:xfrm>
          <a:prstGeom prst="rect">
            <a:avLst/>
          </a:prstGeom>
        </p:spPr>
      </p:pic>
      <p:sp>
        <p:nvSpPr>
          <p:cNvPr id="15" name="text-97"/>
          <p:cNvSpPr txBox="1"/>
          <p:nvPr/>
        </p:nvSpPr>
        <p:spPr>
          <a:xfrm>
            <a:off x="4023360" y="3474720"/>
            <a:ext cx="4663440" cy="822960"/>
          </a:xfrm>
          <a:prstGeom prst="rect">
            <a:avLst/>
          </a:prstGeom>
          <a:noFill/>
          <a:ln/>
        </p:spPr>
        <p:txBody>
          <a:bodyPr wrap="square" lIns="0" tIns="0" rIns="0" bIns="0" rtlCol="0" anchor="t"/>
          <a:lstStyle/>
          <a:p>
            <a:pPr indent="0" marL="0">
              <a:buNone/>
            </a:pPr>
            <a:r>
              <a:rPr lang="en-US" sz="1300" dirty="0">
                <a:solidFill>
                  <a:schemeClr val="tx1"/>
                </a:solidFill>
              </a:rPr>
              <a:t>Worst-case margins 56.5° / 6.0 dB. Settling 11.5 ms, overshoot ≈ 0. The dip near 18.6 V is the diode pre-charge surge.</a:t>
            </a:r>
            <a:endParaRPr lang="en-US" sz="13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Baseline 2: sliding-mode control</a:t>
            </a:r>
            <a:endParaRPr lang="en-US" sz="3000" dirty="0"/>
          </a:p>
        </p:txBody>
      </p:sp>
      <p:sp>
        <p:nvSpPr>
          <p:cNvPr id="4" name="card-98"/>
          <p:cNvSpPr/>
          <p:nvPr/>
        </p:nvSpPr>
        <p:spPr>
          <a:xfrm>
            <a:off x="457200" y="1143000"/>
            <a:ext cx="3474720" cy="1188720"/>
          </a:xfrm>
          <a:prstGeom prst="roundRect">
            <a:avLst>
              <a:gd name="adj" fmla="val 7692"/>
            </a:avLst>
          </a:prstGeom>
          <a:solidFill>
            <a:schemeClr val="bg2"/>
          </a:solidFill>
          <a:ln w="15875">
            <a:solidFill>
              <a:schemeClr val="accent3"/>
            </a:solidFill>
            <a:prstDash val="solid"/>
          </a:ln>
        </p:spPr>
      </p:sp>
      <p:sp>
        <p:nvSpPr>
          <p:cNvPr id="5" name="text-99"/>
          <p:cNvSpPr txBox="1"/>
          <p:nvPr/>
        </p:nvSpPr>
        <p:spPr>
          <a:xfrm>
            <a:off x="594360" y="1216152"/>
            <a:ext cx="3200400" cy="274320"/>
          </a:xfrm>
          <a:prstGeom prst="rect">
            <a:avLst/>
          </a:prstGeom>
          <a:noFill/>
          <a:ln/>
        </p:spPr>
        <p:txBody>
          <a:bodyPr wrap="square" lIns="0" tIns="0" rIns="0" bIns="0" rtlCol="0" anchor="t"/>
          <a:lstStyle/>
          <a:p>
            <a:pPr indent="0" marL="0">
              <a:buNone/>
            </a:pPr>
            <a:r>
              <a:rPr lang="en-US" sz="1400" b="1" dirty="0">
                <a:solidFill>
                  <a:schemeClr val="accent3"/>
                </a:solidFill>
              </a:rPr>
              <a:t>The textbook voltage surface fails</a:t>
            </a:r>
            <a:endParaRPr lang="en-US" sz="1400" dirty="0"/>
          </a:p>
        </p:txBody>
      </p:sp>
      <p:sp>
        <p:nvSpPr>
          <p:cNvPr id="6" name="text-100"/>
          <p:cNvSpPr txBox="1"/>
          <p:nvPr/>
        </p:nvSpPr>
        <p:spPr>
          <a:xfrm>
            <a:off x="594360" y="1517904"/>
            <a:ext cx="3200400" cy="777240"/>
          </a:xfrm>
          <a:prstGeom prst="rect">
            <a:avLst/>
          </a:prstGeom>
          <a:noFill/>
          <a:ln/>
        </p:spPr>
        <p:txBody>
          <a:bodyPr wrap="square" lIns="0" tIns="0" rIns="0" bIns="0" rtlCol="0" anchor="t"/>
          <a:lstStyle/>
          <a:p>
            <a:pPr indent="0" marL="0">
              <a:buNone/>
            </a:pPr>
            <a:r>
              <a:rPr lang="en-US" sz="1300" dirty="0">
                <a:solidFill>
                  <a:schemeClr val="tx1"/>
                </a:solidFill>
              </a:rPr>
              <a:t>s = de/dt + λe on Vout: the output collapses to 12.6 V when 26 V is requested (right-half-plane zero).</a:t>
            </a:r>
            <a:endParaRPr lang="en-US" sz="1300" dirty="0"/>
          </a:p>
        </p:txBody>
      </p:sp>
      <p:sp>
        <p:nvSpPr>
          <p:cNvPr id="7" name="card-101"/>
          <p:cNvSpPr/>
          <p:nvPr/>
        </p:nvSpPr>
        <p:spPr>
          <a:xfrm>
            <a:off x="457200" y="2468880"/>
            <a:ext cx="3474720" cy="1783080"/>
          </a:xfrm>
          <a:prstGeom prst="roundRect">
            <a:avLst>
              <a:gd name="adj" fmla="val 5128"/>
            </a:avLst>
          </a:prstGeom>
          <a:solidFill>
            <a:schemeClr val="bg2"/>
          </a:solidFill>
          <a:ln w="15875">
            <a:solidFill>
              <a:schemeClr val="accent1"/>
            </a:solidFill>
            <a:prstDash val="solid"/>
          </a:ln>
        </p:spPr>
      </p:sp>
      <p:sp>
        <p:nvSpPr>
          <p:cNvPr id="8" name="text-102"/>
          <p:cNvSpPr txBox="1"/>
          <p:nvPr/>
        </p:nvSpPr>
        <p:spPr>
          <a:xfrm>
            <a:off x="594360" y="2542032"/>
            <a:ext cx="3200400" cy="274320"/>
          </a:xfrm>
          <a:prstGeom prst="rect">
            <a:avLst/>
          </a:prstGeom>
          <a:noFill/>
          <a:ln/>
        </p:spPr>
        <p:txBody>
          <a:bodyPr wrap="square" lIns="0" tIns="0" rIns="0" bIns="0" rtlCol="0" anchor="t"/>
          <a:lstStyle/>
          <a:p>
            <a:pPr indent="0" marL="0">
              <a:buNone/>
            </a:pPr>
            <a:r>
              <a:rPr lang="en-US" sz="1400" b="1" dirty="0">
                <a:solidFill>
                  <a:schemeClr val="accent1"/>
                </a:solidFill>
              </a:rPr>
              <a:t>Surface on the inductor current</a:t>
            </a:r>
            <a:endParaRPr lang="en-US" sz="1400" dirty="0"/>
          </a:p>
        </p:txBody>
      </p:sp>
      <p:sp>
        <p:nvSpPr>
          <p:cNvPr id="9" name="text-103"/>
          <p:cNvSpPr txBox="1"/>
          <p:nvPr/>
        </p:nvSpPr>
        <p:spPr>
          <a:xfrm>
            <a:off x="594360" y="2852928"/>
            <a:ext cx="3200400" cy="256032"/>
          </a:xfrm>
          <a:prstGeom prst="rect">
            <a:avLst/>
          </a:prstGeom>
          <a:noFill/>
          <a:ln/>
        </p:spPr>
        <p:txBody>
          <a:bodyPr wrap="square" lIns="0" tIns="0" rIns="0" bIns="0" rtlCol="0" anchor="t"/>
          <a:lstStyle/>
          <a:p>
            <a:pPr indent="0" marL="0">
              <a:buNone/>
            </a:pPr>
            <a:r>
              <a:rPr lang="en-US" sz="1300" b="1" dirty="0">
                <a:solidFill>
                  <a:schemeClr val="tx2"/>
                </a:solidFill>
              </a:rPr>
              <a:t>s = IL − Iref</a:t>
            </a:r>
            <a:endParaRPr lang="en-US" sz="1300" dirty="0"/>
          </a:p>
        </p:txBody>
      </p:sp>
      <p:sp>
        <p:nvSpPr>
          <p:cNvPr id="10" name="text-104"/>
          <p:cNvSpPr txBox="1"/>
          <p:nvPr/>
        </p:nvSpPr>
        <p:spPr>
          <a:xfrm>
            <a:off x="594360" y="3127248"/>
            <a:ext cx="3200400" cy="256032"/>
          </a:xfrm>
          <a:prstGeom prst="rect">
            <a:avLst/>
          </a:prstGeom>
          <a:noFill/>
          <a:ln/>
        </p:spPr>
        <p:txBody>
          <a:bodyPr wrap="square" lIns="0" tIns="0" rIns="0" bIns="0" rtlCol="0" anchor="t"/>
          <a:lstStyle/>
          <a:p>
            <a:pPr indent="0" marL="0">
              <a:buNone/>
            </a:pPr>
            <a:r>
              <a:rPr lang="en-US" sz="1300" b="1" dirty="0">
                <a:solidFill>
                  <a:schemeClr val="tx2"/>
                </a:solidFill>
              </a:rPr>
              <a:t>Iref = clip( Kv·e + Ki∫e, 0, Imax )</a:t>
            </a:r>
            <a:endParaRPr lang="en-US" sz="1300" dirty="0"/>
          </a:p>
        </p:txBody>
      </p:sp>
      <p:sp>
        <p:nvSpPr>
          <p:cNvPr id="11" name="text-105"/>
          <p:cNvSpPr txBox="1"/>
          <p:nvPr/>
        </p:nvSpPr>
        <p:spPr>
          <a:xfrm>
            <a:off x="594360" y="3401568"/>
            <a:ext cx="3200400" cy="256032"/>
          </a:xfrm>
          <a:prstGeom prst="rect">
            <a:avLst/>
          </a:prstGeom>
          <a:noFill/>
          <a:ln/>
        </p:spPr>
        <p:txBody>
          <a:bodyPr wrap="square" lIns="0" tIns="0" rIns="0" bIns="0" rtlCol="0" anchor="t"/>
          <a:lstStyle/>
          <a:p>
            <a:pPr indent="0" marL="0">
              <a:buNone/>
            </a:pPr>
            <a:r>
              <a:rPr lang="en-US" sz="1300" b="1" dirty="0">
                <a:solidFill>
                  <a:schemeClr val="tx2"/>
                </a:solidFill>
              </a:rPr>
              <a:t>D = (1 − Vin,nom / Vout) − K·sat( s / φ )</a:t>
            </a:r>
            <a:endParaRPr lang="en-US" sz="1300" dirty="0"/>
          </a:p>
        </p:txBody>
      </p:sp>
      <p:sp>
        <p:nvSpPr>
          <p:cNvPr id="12" name="text-106"/>
          <p:cNvSpPr txBox="1"/>
          <p:nvPr/>
        </p:nvSpPr>
        <p:spPr>
          <a:xfrm>
            <a:off x="594360" y="3840480"/>
            <a:ext cx="3200400" cy="274320"/>
          </a:xfrm>
          <a:prstGeom prst="rect">
            <a:avLst/>
          </a:prstGeom>
          <a:noFill/>
          <a:ln/>
        </p:spPr>
        <p:txBody>
          <a:bodyPr wrap="square" lIns="0" tIns="0" rIns="0" bIns="0" rtlCol="0" anchor="t"/>
          <a:lstStyle/>
          <a:p>
            <a:pPr indent="0" marL="0">
              <a:buNone/>
            </a:pPr>
            <a:r>
              <a:rPr lang="en-US" sz="1200" dirty="0">
                <a:solidFill>
                  <a:schemeClr val="accent6"/>
                </a:solidFill>
              </a:rPr>
              <a:t>Vin,nom = 12 V is assumed, not measured.</a:t>
            </a:r>
            <a:endParaRPr lang="en-US" sz="1200" dirty="0"/>
          </a:p>
        </p:txBody>
      </p:sp>
      <p:pic>
        <p:nvPicPr>
          <p:cNvPr id="13" name="figure-107" descr="SMC Vref versus Vout for the five scenarios">    </p:cNvPr>
          <p:cNvPicPr>
            <a:picLocks noChangeAspect="1"/>
          </p:cNvPicPr>
          <p:nvPr/>
        </p:nvPicPr>
        <p:blipFill>
          <a:blip r:embed="rId1"/>
          <a:stretch>
            <a:fillRect/>
          </a:stretch>
        </p:blipFill>
        <p:spPr>
          <a:xfrm>
            <a:off x="4114800" y="1143000"/>
            <a:ext cx="4572000" cy="1937288"/>
          </a:xfrm>
          <a:prstGeom prst="rect">
            <a:avLst/>
          </a:prstGeom>
        </p:spPr>
      </p:pic>
      <p:sp>
        <p:nvSpPr>
          <p:cNvPr id="14" name="card-108"/>
          <p:cNvSpPr/>
          <p:nvPr/>
        </p:nvSpPr>
        <p:spPr>
          <a:xfrm>
            <a:off x="4114800" y="3474720"/>
            <a:ext cx="1051560" cy="777240"/>
          </a:xfrm>
          <a:prstGeom prst="roundRect">
            <a:avLst>
              <a:gd name="adj" fmla="val 11765"/>
            </a:avLst>
          </a:prstGeom>
          <a:solidFill>
            <a:schemeClr val="bg2"/>
          </a:solidFill>
          <a:ln/>
        </p:spPr>
      </p:sp>
      <p:sp>
        <p:nvSpPr>
          <p:cNvPr id="15" name="text-109"/>
          <p:cNvSpPr txBox="1"/>
          <p:nvPr/>
        </p:nvSpPr>
        <p:spPr>
          <a:xfrm>
            <a:off x="4114800" y="3529584"/>
            <a:ext cx="1051560" cy="228600"/>
          </a:xfrm>
          <a:prstGeom prst="rect">
            <a:avLst/>
          </a:prstGeom>
          <a:noFill/>
          <a:ln/>
        </p:spPr>
        <p:txBody>
          <a:bodyPr wrap="square" lIns="0" tIns="0" rIns="0" bIns="0" rtlCol="0" anchor="t"/>
          <a:lstStyle/>
          <a:p>
            <a:pPr algn="ctr" indent="0" marL="0">
              <a:buNone/>
            </a:pPr>
            <a:r>
              <a:rPr lang="en-US" sz="1200" dirty="0">
                <a:solidFill>
                  <a:schemeClr val="accent6"/>
                </a:solidFill>
              </a:rPr>
              <a:t>Kv</a:t>
            </a:r>
            <a:endParaRPr lang="en-US" sz="1200" dirty="0"/>
          </a:p>
        </p:txBody>
      </p:sp>
      <p:sp>
        <p:nvSpPr>
          <p:cNvPr id="16" name="text-110"/>
          <p:cNvSpPr txBox="1"/>
          <p:nvPr/>
        </p:nvSpPr>
        <p:spPr>
          <a:xfrm>
            <a:off x="4114800" y="3794760"/>
            <a:ext cx="1051560" cy="365760"/>
          </a:xfrm>
          <a:prstGeom prst="rect">
            <a:avLst/>
          </a:prstGeom>
          <a:noFill/>
          <a:ln/>
        </p:spPr>
        <p:txBody>
          <a:bodyPr wrap="square" lIns="0" tIns="0" rIns="0" bIns="0" rtlCol="0" anchor="t"/>
          <a:lstStyle/>
          <a:p>
            <a:pPr algn="ctr" indent="0" marL="0">
              <a:buNone/>
            </a:pPr>
            <a:r>
              <a:rPr lang="en-US" sz="1400" b="1" dirty="0">
                <a:solidFill>
                  <a:schemeClr val="accent1"/>
                </a:solidFill>
              </a:rPr>
              <a:t>0.656</a:t>
            </a:r>
            <a:endParaRPr lang="en-US" sz="1400" dirty="0"/>
          </a:p>
        </p:txBody>
      </p:sp>
      <p:sp>
        <p:nvSpPr>
          <p:cNvPr id="17" name="card-111"/>
          <p:cNvSpPr/>
          <p:nvPr/>
        </p:nvSpPr>
        <p:spPr>
          <a:xfrm>
            <a:off x="5285232" y="3474720"/>
            <a:ext cx="1051560" cy="777240"/>
          </a:xfrm>
          <a:prstGeom prst="roundRect">
            <a:avLst>
              <a:gd name="adj" fmla="val 11765"/>
            </a:avLst>
          </a:prstGeom>
          <a:solidFill>
            <a:schemeClr val="bg2"/>
          </a:solidFill>
          <a:ln/>
        </p:spPr>
      </p:sp>
      <p:sp>
        <p:nvSpPr>
          <p:cNvPr id="18" name="text-112"/>
          <p:cNvSpPr txBox="1"/>
          <p:nvPr/>
        </p:nvSpPr>
        <p:spPr>
          <a:xfrm>
            <a:off x="5285232" y="3529584"/>
            <a:ext cx="1051560" cy="228600"/>
          </a:xfrm>
          <a:prstGeom prst="rect">
            <a:avLst/>
          </a:prstGeom>
          <a:noFill/>
          <a:ln/>
        </p:spPr>
        <p:txBody>
          <a:bodyPr wrap="square" lIns="0" tIns="0" rIns="0" bIns="0" rtlCol="0" anchor="t"/>
          <a:lstStyle/>
          <a:p>
            <a:pPr algn="ctr" indent="0" marL="0">
              <a:buNone/>
            </a:pPr>
            <a:r>
              <a:rPr lang="en-US" sz="1200" dirty="0">
                <a:solidFill>
                  <a:schemeClr val="accent6"/>
                </a:solidFill>
              </a:rPr>
              <a:t>Ki</a:t>
            </a:r>
            <a:endParaRPr lang="en-US" sz="1200" dirty="0"/>
          </a:p>
        </p:txBody>
      </p:sp>
      <p:sp>
        <p:nvSpPr>
          <p:cNvPr id="19" name="text-113"/>
          <p:cNvSpPr txBox="1"/>
          <p:nvPr/>
        </p:nvSpPr>
        <p:spPr>
          <a:xfrm>
            <a:off x="5285232" y="3794760"/>
            <a:ext cx="1051560" cy="365760"/>
          </a:xfrm>
          <a:prstGeom prst="rect">
            <a:avLst/>
          </a:prstGeom>
          <a:noFill/>
          <a:ln/>
        </p:spPr>
        <p:txBody>
          <a:bodyPr wrap="square" lIns="0" tIns="0" rIns="0" bIns="0" rtlCol="0" anchor="t"/>
          <a:lstStyle/>
          <a:p>
            <a:pPr algn="ctr" indent="0" marL="0">
              <a:buNone/>
            </a:pPr>
            <a:r>
              <a:rPr lang="en-US" sz="1400" b="1" dirty="0">
                <a:solidFill>
                  <a:schemeClr val="accent1"/>
                </a:solidFill>
              </a:rPr>
              <a:t>164.7</a:t>
            </a:r>
            <a:endParaRPr lang="en-US" sz="1400" dirty="0"/>
          </a:p>
        </p:txBody>
      </p:sp>
      <p:sp>
        <p:nvSpPr>
          <p:cNvPr id="20" name="card-114"/>
          <p:cNvSpPr/>
          <p:nvPr/>
        </p:nvSpPr>
        <p:spPr>
          <a:xfrm>
            <a:off x="6455664" y="3474720"/>
            <a:ext cx="1051560" cy="777240"/>
          </a:xfrm>
          <a:prstGeom prst="roundRect">
            <a:avLst>
              <a:gd name="adj" fmla="val 11765"/>
            </a:avLst>
          </a:prstGeom>
          <a:solidFill>
            <a:schemeClr val="bg2"/>
          </a:solidFill>
          <a:ln/>
        </p:spPr>
      </p:sp>
      <p:sp>
        <p:nvSpPr>
          <p:cNvPr id="21" name="text-115"/>
          <p:cNvSpPr txBox="1"/>
          <p:nvPr/>
        </p:nvSpPr>
        <p:spPr>
          <a:xfrm>
            <a:off x="6455664" y="3529584"/>
            <a:ext cx="1051560" cy="228600"/>
          </a:xfrm>
          <a:prstGeom prst="rect">
            <a:avLst/>
          </a:prstGeom>
          <a:noFill/>
          <a:ln/>
        </p:spPr>
        <p:txBody>
          <a:bodyPr wrap="square" lIns="0" tIns="0" rIns="0" bIns="0" rtlCol="0" anchor="t"/>
          <a:lstStyle/>
          <a:p>
            <a:pPr algn="ctr" indent="0" marL="0">
              <a:buNone/>
            </a:pPr>
            <a:r>
              <a:rPr lang="en-US" sz="1200" dirty="0">
                <a:solidFill>
                  <a:schemeClr val="accent6"/>
                </a:solidFill>
              </a:rPr>
              <a:t>K</a:t>
            </a:r>
            <a:endParaRPr lang="en-US" sz="1200" dirty="0"/>
          </a:p>
        </p:txBody>
      </p:sp>
      <p:sp>
        <p:nvSpPr>
          <p:cNvPr id="22" name="text-116"/>
          <p:cNvSpPr txBox="1"/>
          <p:nvPr/>
        </p:nvSpPr>
        <p:spPr>
          <a:xfrm>
            <a:off x="6455664" y="3794760"/>
            <a:ext cx="1051560" cy="365760"/>
          </a:xfrm>
          <a:prstGeom prst="rect">
            <a:avLst/>
          </a:prstGeom>
          <a:noFill/>
          <a:ln/>
        </p:spPr>
        <p:txBody>
          <a:bodyPr wrap="square" lIns="0" tIns="0" rIns="0" bIns="0" rtlCol="0" anchor="t"/>
          <a:lstStyle/>
          <a:p>
            <a:pPr algn="ctr" indent="0" marL="0">
              <a:buNone/>
            </a:pPr>
            <a:r>
              <a:rPr lang="en-US" sz="1400" b="1" dirty="0">
                <a:solidFill>
                  <a:schemeClr val="accent1"/>
                </a:solidFill>
              </a:rPr>
              <a:t>0.3</a:t>
            </a:r>
            <a:endParaRPr lang="en-US" sz="1400" dirty="0"/>
          </a:p>
        </p:txBody>
      </p:sp>
      <p:sp>
        <p:nvSpPr>
          <p:cNvPr id="23" name="card-117"/>
          <p:cNvSpPr/>
          <p:nvPr/>
        </p:nvSpPr>
        <p:spPr>
          <a:xfrm>
            <a:off x="7626096" y="3474720"/>
            <a:ext cx="1051560" cy="777240"/>
          </a:xfrm>
          <a:prstGeom prst="roundRect">
            <a:avLst>
              <a:gd name="adj" fmla="val 11765"/>
            </a:avLst>
          </a:prstGeom>
          <a:solidFill>
            <a:schemeClr val="bg2"/>
          </a:solidFill>
          <a:ln/>
        </p:spPr>
      </p:sp>
      <p:sp>
        <p:nvSpPr>
          <p:cNvPr id="24" name="text-118"/>
          <p:cNvSpPr txBox="1"/>
          <p:nvPr/>
        </p:nvSpPr>
        <p:spPr>
          <a:xfrm>
            <a:off x="7626096" y="3529584"/>
            <a:ext cx="1051560" cy="228600"/>
          </a:xfrm>
          <a:prstGeom prst="rect">
            <a:avLst/>
          </a:prstGeom>
          <a:noFill/>
          <a:ln/>
        </p:spPr>
        <p:txBody>
          <a:bodyPr wrap="square" lIns="0" tIns="0" rIns="0" bIns="0" rtlCol="0" anchor="t"/>
          <a:lstStyle/>
          <a:p>
            <a:pPr algn="ctr" indent="0" marL="0">
              <a:buNone/>
            </a:pPr>
            <a:r>
              <a:rPr lang="en-US" sz="1200" dirty="0">
                <a:solidFill>
                  <a:schemeClr val="accent6"/>
                </a:solidFill>
              </a:rPr>
              <a:t>φ</a:t>
            </a:r>
            <a:endParaRPr lang="en-US" sz="1200" dirty="0"/>
          </a:p>
        </p:txBody>
      </p:sp>
      <p:sp>
        <p:nvSpPr>
          <p:cNvPr id="25" name="text-119"/>
          <p:cNvSpPr txBox="1"/>
          <p:nvPr/>
        </p:nvSpPr>
        <p:spPr>
          <a:xfrm>
            <a:off x="7626096" y="3794760"/>
            <a:ext cx="1051560" cy="365760"/>
          </a:xfrm>
          <a:prstGeom prst="rect">
            <a:avLst/>
          </a:prstGeom>
          <a:noFill/>
          <a:ln/>
        </p:spPr>
        <p:txBody>
          <a:bodyPr wrap="square" lIns="0" tIns="0" rIns="0" bIns="0" rtlCol="0" anchor="t"/>
          <a:lstStyle/>
          <a:p>
            <a:pPr algn="ctr" indent="0" marL="0">
              <a:buNone/>
            </a:pPr>
            <a:r>
              <a:rPr lang="en-US" sz="1400" b="1" dirty="0">
                <a:solidFill>
                  <a:schemeClr val="accent1"/>
                </a:solidFill>
              </a:rPr>
              <a:t>0.8 A</a:t>
            </a:r>
            <a:endParaRPr lang="en-US" sz="1400" dirty="0"/>
          </a:p>
        </p:txBody>
      </p:sp>
      <p:sp>
        <p:nvSpPr>
          <p:cNvPr id="26" name="text-120"/>
          <p:cNvSpPr txBox="1"/>
          <p:nvPr/>
        </p:nvSpPr>
        <p:spPr>
          <a:xfrm>
            <a:off x="4114800" y="4343400"/>
            <a:ext cx="4572000" cy="274320"/>
          </a:xfrm>
          <a:prstGeom prst="rect">
            <a:avLst/>
          </a:prstGeom>
          <a:noFill/>
          <a:ln/>
        </p:spPr>
        <p:txBody>
          <a:bodyPr wrap="square" lIns="0" tIns="0" rIns="0" bIns="0" rtlCol="0" anchor="t"/>
          <a:lstStyle/>
          <a:p>
            <a:pPr indent="0" marL="0">
              <a:buNone/>
            </a:pPr>
            <a:r>
              <a:rPr lang="en-US" sz="1300" dirty="0">
                <a:solidFill>
                  <a:schemeClr val="tx1"/>
                </a:solidFill>
              </a:rPr>
              <a:t>Result: settling 2.9 ms, overshoot 2.6 %, no negative current.</a:t>
            </a:r>
            <a:endParaRPr lang="en-US" sz="13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PID versus SMC: the measured trade-offs</a:t>
            </a:r>
            <a:endParaRPr lang="en-US" sz="3000" dirty="0"/>
          </a:p>
        </p:txBody>
      </p:sp>
      <p:graphicFrame>
        <p:nvGraphicFramePr>
          <p:cNvPr id="4" name="Chart 0" descr=""/>
          <p:cNvGraphicFramePr/>
          <p:nvPr/>
        </p:nvGraphicFramePr>
        <p:xfrm>
          <a:off x="457200" y="114300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5" name="text-121"/>
          <p:cNvSpPr txBox="1"/>
          <p:nvPr/>
        </p:nvSpPr>
        <p:spPr>
          <a:xfrm>
            <a:off x="6035040" y="1234440"/>
            <a:ext cx="2651760" cy="548640"/>
          </a:xfrm>
          <a:prstGeom prst="rect">
            <a:avLst/>
          </a:prstGeom>
          <a:noFill/>
          <a:ln/>
        </p:spPr>
        <p:txBody>
          <a:bodyPr wrap="square" lIns="0" tIns="0" rIns="0" bIns="0" rtlCol="0" anchor="t"/>
          <a:lstStyle/>
          <a:p>
            <a:pPr indent="0" marL="0">
              <a:buNone/>
            </a:pPr>
            <a:r>
              <a:rPr lang="en-US" sz="2400" b="1" dirty="0">
                <a:solidFill>
                  <a:schemeClr val="accent1"/>
                </a:solidFill>
              </a:rPr>
              <a:t>11.5 → 2.9 ms</a:t>
            </a:r>
            <a:endParaRPr lang="en-US" sz="2400" dirty="0"/>
          </a:p>
        </p:txBody>
      </p:sp>
      <p:sp>
        <p:nvSpPr>
          <p:cNvPr id="6" name="text-122"/>
          <p:cNvSpPr txBox="1"/>
          <p:nvPr/>
        </p:nvSpPr>
        <p:spPr>
          <a:xfrm>
            <a:off x="6035040" y="1783080"/>
            <a:ext cx="2651760" cy="548640"/>
          </a:xfrm>
          <a:prstGeom prst="rect">
            <a:avLst/>
          </a:prstGeom>
          <a:noFill/>
          <a:ln/>
        </p:spPr>
        <p:txBody>
          <a:bodyPr wrap="square" lIns="0" tIns="0" rIns="0" bIns="0" rtlCol="0" anchor="t"/>
          <a:lstStyle/>
          <a:p>
            <a:pPr indent="0" marL="0">
              <a:buNone/>
            </a:pPr>
            <a:r>
              <a:rPr lang="en-US" sz="1400" dirty="0">
                <a:solidFill>
                  <a:schemeClr val="tx1"/>
                </a:solidFill>
              </a:rPr>
              <a:t>settling time, PID → SMC</a:t>
            </a:r>
            <a:endParaRPr lang="en-US" sz="1400" dirty="0"/>
          </a:p>
        </p:txBody>
      </p:sp>
      <p:sp>
        <p:nvSpPr>
          <p:cNvPr id="7" name="text-123"/>
          <p:cNvSpPr txBox="1"/>
          <p:nvPr/>
        </p:nvSpPr>
        <p:spPr>
          <a:xfrm>
            <a:off x="6035040" y="2286000"/>
            <a:ext cx="2651760" cy="548640"/>
          </a:xfrm>
          <a:prstGeom prst="rect">
            <a:avLst/>
          </a:prstGeom>
          <a:noFill/>
          <a:ln/>
        </p:spPr>
        <p:txBody>
          <a:bodyPr wrap="square" lIns="0" tIns="0" rIns="0" bIns="0" rtlCol="0" anchor="t"/>
          <a:lstStyle/>
          <a:p>
            <a:pPr indent="0" marL="0">
              <a:buNone/>
            </a:pPr>
            <a:r>
              <a:rPr lang="en-US" sz="2400" b="1" dirty="0">
                <a:solidFill>
                  <a:schemeClr val="accent2"/>
                </a:solidFill>
              </a:rPr>
              <a:t>5.40 → 2.07 V</a:t>
            </a:r>
            <a:endParaRPr lang="en-US" sz="2400" dirty="0"/>
          </a:p>
        </p:txBody>
      </p:sp>
      <p:sp>
        <p:nvSpPr>
          <p:cNvPr id="8" name="text-124"/>
          <p:cNvSpPr txBox="1"/>
          <p:nvPr/>
        </p:nvSpPr>
        <p:spPr>
          <a:xfrm>
            <a:off x="6035040" y="2834640"/>
            <a:ext cx="2651760" cy="548640"/>
          </a:xfrm>
          <a:prstGeom prst="rect">
            <a:avLst/>
          </a:prstGeom>
          <a:noFill/>
          <a:ln/>
        </p:spPr>
        <p:txBody>
          <a:bodyPr wrap="square" lIns="0" tIns="0" rIns="0" bIns="0" rtlCol="0" anchor="t"/>
          <a:lstStyle/>
          <a:p>
            <a:pPr indent="0" marL="0">
              <a:buNone/>
            </a:pPr>
            <a:r>
              <a:rPr lang="en-US" sz="1400" dirty="0">
                <a:solidFill>
                  <a:schemeClr val="tx1"/>
                </a:solidFill>
              </a:rPr>
              <a:t>startup dip, PID → SMC</a:t>
            </a:r>
            <a:endParaRPr lang="en-US" sz="1400" dirty="0"/>
          </a:p>
        </p:txBody>
      </p:sp>
      <p:sp>
        <p:nvSpPr>
          <p:cNvPr id="9" name="card-125"/>
          <p:cNvSpPr/>
          <p:nvPr/>
        </p:nvSpPr>
        <p:spPr>
          <a:xfrm>
            <a:off x="6035040" y="3383280"/>
            <a:ext cx="2651760" cy="1188720"/>
          </a:xfrm>
          <a:prstGeom prst="roundRect">
            <a:avLst>
              <a:gd name="adj" fmla="val 7692"/>
            </a:avLst>
          </a:prstGeom>
          <a:solidFill>
            <a:schemeClr val="bg2"/>
          </a:solidFill>
          <a:ln/>
        </p:spPr>
      </p:sp>
      <p:sp>
        <p:nvSpPr>
          <p:cNvPr id="10" name="text-126"/>
          <p:cNvSpPr txBox="1"/>
          <p:nvPr/>
        </p:nvSpPr>
        <p:spPr>
          <a:xfrm>
            <a:off x="6172200" y="3493008"/>
            <a:ext cx="2377440" cy="1005840"/>
          </a:xfrm>
          <a:prstGeom prst="rect">
            <a:avLst/>
          </a:prstGeom>
          <a:noFill/>
          <a:ln/>
        </p:spPr>
        <p:txBody>
          <a:bodyPr wrap="square" lIns="0" tIns="0" rIns="0" bIns="0" rtlCol="0" anchor="t"/>
          <a:lstStyle/>
          <a:p>
            <a:pPr indent="0" marL="0">
              <a:buNone/>
            </a:pPr>
            <a:r>
              <a:rPr lang="en-US" sz="1300" dirty="0">
                <a:solidFill>
                  <a:schemeClr val="tx1"/>
                </a:solidFill>
              </a:rPr>
              <a:t>Not like for like: the SMC senses inductor current; the PID uses only Vout.</a:t>
            </a:r>
            <a:endParaRPr lang="en-US" sz="13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The reinforcement-learning environment</a:t>
            </a:r>
            <a:endParaRPr lang="en-US" sz="3000" dirty="0"/>
          </a:p>
        </p:txBody>
      </p:sp>
      <p:sp>
        <p:nvSpPr>
          <p:cNvPr id="4" name="card-127"/>
          <p:cNvSpPr/>
          <p:nvPr/>
        </p:nvSpPr>
        <p:spPr>
          <a:xfrm>
            <a:off x="457200" y="1143000"/>
            <a:ext cx="2651760" cy="2331720"/>
          </a:xfrm>
          <a:prstGeom prst="roundRect">
            <a:avLst>
              <a:gd name="adj" fmla="val 3922"/>
            </a:avLst>
          </a:prstGeom>
          <a:solidFill>
            <a:schemeClr val="bg2"/>
          </a:solidFill>
          <a:ln/>
        </p:spPr>
      </p:sp>
      <p:sp>
        <p:nvSpPr>
          <p:cNvPr id="5" name="text-128"/>
          <p:cNvSpPr txBox="1"/>
          <p:nvPr/>
        </p:nvSpPr>
        <p:spPr>
          <a:xfrm>
            <a:off x="640080" y="1234440"/>
            <a:ext cx="2286000" cy="320040"/>
          </a:xfrm>
          <a:prstGeom prst="rect">
            <a:avLst/>
          </a:prstGeom>
          <a:noFill/>
          <a:ln/>
        </p:spPr>
        <p:txBody>
          <a:bodyPr wrap="square" lIns="0" tIns="0" rIns="0" bIns="0" rtlCol="0" anchor="t"/>
          <a:lstStyle/>
          <a:p>
            <a:pPr indent="0" marL="0">
              <a:buNone/>
            </a:pPr>
            <a:r>
              <a:rPr lang="en-US" sz="1700" b="1" dirty="0">
                <a:solidFill>
                  <a:schemeClr val="accent1"/>
                </a:solidFill>
              </a:rPr>
              <a:t>Observation</a:t>
            </a:r>
            <a:endParaRPr lang="en-US" sz="1700" dirty="0"/>
          </a:p>
        </p:txBody>
      </p:sp>
      <p:sp>
        <p:nvSpPr>
          <p:cNvPr id="6" name="text-129"/>
          <p:cNvSpPr txBox="1"/>
          <p:nvPr/>
        </p:nvSpPr>
        <p:spPr>
          <a:xfrm>
            <a:off x="640080" y="1645920"/>
            <a:ext cx="2331720" cy="17830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Voltage error (÷ 10 V)</a:t>
            </a:r>
            <a:endParaRPr lang="en-US" sz="1400" dirty="0"/>
          </a:p>
          <a:p>
            <a:pPr marL="203200" indent="-203200">
              <a:spcAft>
                <a:spcPts val="500"/>
              </a:spcAft>
              <a:buSzPct val="100000"/>
              <a:buChar char="•"/>
            </a:pPr>
            <a:r>
              <a:rPr lang="en-US" sz="1400" dirty="0">
                <a:solidFill>
                  <a:schemeClr val="tx1"/>
                </a:solidFill>
              </a:rPr>
              <a:t>Change of error</a:t>
            </a:r>
            <a:endParaRPr lang="en-US" sz="1400" dirty="0"/>
          </a:p>
          <a:p>
            <a:pPr marL="203200" indent="-203200">
              <a:spcAft>
                <a:spcPts val="500"/>
              </a:spcAft>
              <a:buSzPct val="100000"/>
              <a:buChar char="•"/>
            </a:pPr>
            <a:r>
              <a:rPr lang="en-US" sz="1400" dirty="0">
                <a:solidFill>
                  <a:schemeClr val="tx1"/>
                </a:solidFill>
              </a:rPr>
              <a:t>Integral of error</a:t>
            </a:r>
            <a:endParaRPr lang="en-US" sz="1400" dirty="0"/>
          </a:p>
          <a:p>
            <a:pPr marL="203200" indent="-203200">
              <a:spcAft>
                <a:spcPts val="500"/>
              </a:spcAft>
              <a:buSzPct val="100000"/>
              <a:buChar char="•"/>
            </a:pPr>
            <a:r>
              <a:rPr lang="en-US" sz="1400" dirty="0">
                <a:solidFill>
                  <a:schemeClr val="tx1"/>
                </a:solidFill>
              </a:rPr>
              <a:t>Vout (÷ 24 V)</a:t>
            </a:r>
            <a:endParaRPr lang="en-US" sz="1400" dirty="0"/>
          </a:p>
          <a:p>
            <a:pPr marL="203200" indent="-203200">
              <a:spcAft>
                <a:spcPts val="500"/>
              </a:spcAft>
              <a:buSzPct val="100000"/>
              <a:buChar char="•"/>
            </a:pPr>
            <a:r>
              <a:rPr lang="en-US" sz="1400" dirty="0">
                <a:solidFill>
                  <a:schemeClr val="tx1"/>
                </a:solidFill>
              </a:rPr>
              <a:t>Inductor current (÷ 10 A)</a:t>
            </a:r>
            <a:endParaRPr lang="en-US" sz="1400" dirty="0"/>
          </a:p>
        </p:txBody>
      </p:sp>
      <p:sp>
        <p:nvSpPr>
          <p:cNvPr id="7" name="card-130"/>
          <p:cNvSpPr/>
          <p:nvPr/>
        </p:nvSpPr>
        <p:spPr>
          <a:xfrm>
            <a:off x="3246120" y="1143000"/>
            <a:ext cx="2651760" cy="2331720"/>
          </a:xfrm>
          <a:prstGeom prst="roundRect">
            <a:avLst>
              <a:gd name="adj" fmla="val 3922"/>
            </a:avLst>
          </a:prstGeom>
          <a:solidFill>
            <a:schemeClr val="bg2"/>
          </a:solidFill>
          <a:ln/>
        </p:spPr>
      </p:sp>
      <p:sp>
        <p:nvSpPr>
          <p:cNvPr id="8" name="text-131"/>
          <p:cNvSpPr txBox="1"/>
          <p:nvPr/>
        </p:nvSpPr>
        <p:spPr>
          <a:xfrm>
            <a:off x="3429000" y="1234440"/>
            <a:ext cx="2286000" cy="320040"/>
          </a:xfrm>
          <a:prstGeom prst="rect">
            <a:avLst/>
          </a:prstGeom>
          <a:noFill/>
          <a:ln/>
        </p:spPr>
        <p:txBody>
          <a:bodyPr wrap="square" lIns="0" tIns="0" rIns="0" bIns="0" rtlCol="0" anchor="t"/>
          <a:lstStyle/>
          <a:p>
            <a:pPr indent="0" marL="0">
              <a:buNone/>
            </a:pPr>
            <a:r>
              <a:rPr lang="en-US" sz="1700" b="1" dirty="0">
                <a:solidFill>
                  <a:schemeClr val="accent1"/>
                </a:solidFill>
              </a:rPr>
              <a:t>Action</a:t>
            </a:r>
            <a:endParaRPr lang="en-US" sz="1700" dirty="0"/>
          </a:p>
        </p:txBody>
      </p:sp>
      <p:sp>
        <p:nvSpPr>
          <p:cNvPr id="9" name="text-132"/>
          <p:cNvSpPr txBox="1"/>
          <p:nvPr/>
        </p:nvSpPr>
        <p:spPr>
          <a:xfrm>
            <a:off x="3429000" y="1645920"/>
            <a:ext cx="2331720" cy="17830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a in [−1, 1]</a:t>
            </a:r>
            <a:endParaRPr lang="en-US" sz="1400" dirty="0"/>
          </a:p>
          <a:p>
            <a:pPr marL="203200" indent="-203200">
              <a:spcAft>
                <a:spcPts val="500"/>
              </a:spcAft>
              <a:buSzPct val="100000"/>
              <a:buChar char="•"/>
            </a:pPr>
            <a:r>
              <a:rPr lang="en-US" sz="1400" dirty="0">
                <a:solidFill>
                  <a:schemeClr val="tx1"/>
                </a:solidFill>
              </a:rPr>
              <a:t>D = 0.05 + (a+1)/2 × 0.90</a:t>
            </a:r>
            <a:endParaRPr lang="en-US" sz="1400" dirty="0"/>
          </a:p>
          <a:p>
            <a:pPr marL="203200" indent="-203200">
              <a:spcAft>
                <a:spcPts val="500"/>
              </a:spcAft>
              <a:buSzPct val="100000"/>
              <a:buChar char="•"/>
            </a:pPr>
            <a:r>
              <a:rPr lang="en-US" sz="1400" dirty="0">
                <a:solidFill>
                  <a:schemeClr val="tx1"/>
                </a:solidFill>
              </a:rPr>
              <a:t>one decision every 200 µs</a:t>
            </a:r>
            <a:endParaRPr lang="en-US" sz="1400" dirty="0"/>
          </a:p>
          <a:p>
            <a:pPr marL="203200" indent="-203200">
              <a:spcAft>
                <a:spcPts val="500"/>
              </a:spcAft>
              <a:buSzPct val="100000"/>
              <a:buChar char="•"/>
            </a:pPr>
            <a:r>
              <a:rPr lang="en-US" sz="1400" dirty="0">
                <a:solidFill>
                  <a:schemeClr val="tx1"/>
                </a:solidFill>
              </a:rPr>
              <a:t>agent never sees Vin or R</a:t>
            </a:r>
            <a:endParaRPr lang="en-US" sz="1400" dirty="0"/>
          </a:p>
        </p:txBody>
      </p:sp>
      <p:sp>
        <p:nvSpPr>
          <p:cNvPr id="10" name="card-133"/>
          <p:cNvSpPr/>
          <p:nvPr/>
        </p:nvSpPr>
        <p:spPr>
          <a:xfrm>
            <a:off x="6035040" y="1143000"/>
            <a:ext cx="2651760" cy="2331720"/>
          </a:xfrm>
          <a:prstGeom prst="roundRect">
            <a:avLst>
              <a:gd name="adj" fmla="val 3922"/>
            </a:avLst>
          </a:prstGeom>
          <a:solidFill>
            <a:schemeClr val="bg2"/>
          </a:solidFill>
          <a:ln/>
        </p:spPr>
      </p:sp>
      <p:sp>
        <p:nvSpPr>
          <p:cNvPr id="11" name="text-134"/>
          <p:cNvSpPr txBox="1"/>
          <p:nvPr/>
        </p:nvSpPr>
        <p:spPr>
          <a:xfrm>
            <a:off x="6217920" y="1234440"/>
            <a:ext cx="2286000" cy="320040"/>
          </a:xfrm>
          <a:prstGeom prst="rect">
            <a:avLst/>
          </a:prstGeom>
          <a:noFill/>
          <a:ln/>
        </p:spPr>
        <p:txBody>
          <a:bodyPr wrap="square" lIns="0" tIns="0" rIns="0" bIns="0" rtlCol="0" anchor="t"/>
          <a:lstStyle/>
          <a:p>
            <a:pPr indent="0" marL="0">
              <a:buNone/>
            </a:pPr>
            <a:r>
              <a:rPr lang="en-US" sz="1700" b="1" dirty="0">
                <a:solidFill>
                  <a:schemeClr val="accent1"/>
                </a:solidFill>
              </a:rPr>
              <a:t>Reward</a:t>
            </a:r>
            <a:endParaRPr lang="en-US" sz="1700" dirty="0"/>
          </a:p>
        </p:txBody>
      </p:sp>
      <p:sp>
        <p:nvSpPr>
          <p:cNvPr id="12" name="text-135"/>
          <p:cNvSpPr txBox="1"/>
          <p:nvPr/>
        </p:nvSpPr>
        <p:spPr>
          <a:xfrm>
            <a:off x="6217920" y="1645920"/>
            <a:ext cx="2331720" cy="17830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tracking, steep near zero</a:t>
            </a:r>
            <a:endParaRPr lang="en-US" sz="1400" dirty="0"/>
          </a:p>
          <a:p>
            <a:pPr marL="203200" indent="-203200">
              <a:spcAft>
                <a:spcPts val="500"/>
              </a:spcAft>
              <a:buSzPct val="100000"/>
              <a:buChar char="•"/>
            </a:pPr>
            <a:r>
              <a:rPr lang="en-US" sz="1400" dirty="0">
                <a:solidFill>
                  <a:schemeClr val="tx1"/>
                </a:solidFill>
              </a:rPr>
              <a:t>overshoot penalty</a:t>
            </a:r>
            <a:endParaRPr lang="en-US" sz="1400" dirty="0"/>
          </a:p>
          <a:p>
            <a:pPr marL="203200" indent="-203200">
              <a:spcAft>
                <a:spcPts val="500"/>
              </a:spcAft>
              <a:buSzPct val="100000"/>
              <a:buChar char="•"/>
            </a:pPr>
            <a:r>
              <a:rPr lang="en-US" sz="1400" dirty="0">
                <a:solidFill>
                  <a:schemeClr val="tx1"/>
                </a:solidFill>
              </a:rPr>
              <a:t>duty smoothness</a:t>
            </a:r>
            <a:endParaRPr lang="en-US" sz="1400" dirty="0"/>
          </a:p>
          <a:p>
            <a:pPr marL="203200" indent="-203200">
              <a:spcAft>
                <a:spcPts val="500"/>
              </a:spcAft>
              <a:buSzPct val="100000"/>
              <a:buChar char="•"/>
            </a:pPr>
            <a:r>
              <a:rPr lang="en-US" sz="1400" dirty="0">
                <a:solidFill>
                  <a:schemeClr val="tx1"/>
                </a:solidFill>
              </a:rPr>
              <a:t>precision bonus</a:t>
            </a:r>
            <a:endParaRPr lang="en-US" sz="1400" dirty="0"/>
          </a:p>
          <a:p>
            <a:pPr marL="203200" indent="-203200">
              <a:spcAft>
                <a:spcPts val="500"/>
              </a:spcAft>
              <a:buSzPct val="100000"/>
              <a:buChar char="•"/>
            </a:pPr>
            <a:r>
              <a:rPr lang="en-US" sz="1400" dirty="0">
                <a:solidFill>
                  <a:schemeClr val="tx1"/>
                </a:solidFill>
              </a:rPr>
              <a:t>trip: −50</a:t>
            </a:r>
            <a:endParaRPr lang="en-US" sz="1400" dirty="0"/>
          </a:p>
        </p:txBody>
      </p:sp>
      <p:sp>
        <p:nvSpPr>
          <p:cNvPr id="13" name="card-136"/>
          <p:cNvSpPr/>
          <p:nvPr/>
        </p:nvSpPr>
        <p:spPr>
          <a:xfrm>
            <a:off x="457200" y="3611880"/>
            <a:ext cx="8229600" cy="457200"/>
          </a:xfrm>
          <a:prstGeom prst="roundRect">
            <a:avLst>
              <a:gd name="adj" fmla="val 20000"/>
            </a:avLst>
          </a:prstGeom>
          <a:solidFill>
            <a:schemeClr val="tx2"/>
          </a:solidFill>
          <a:ln/>
        </p:spPr>
      </p:sp>
      <p:sp>
        <p:nvSpPr>
          <p:cNvPr id="14" name="text-137"/>
          <p:cNvSpPr txBox="1"/>
          <p:nvPr/>
        </p:nvSpPr>
        <p:spPr>
          <a:xfrm>
            <a:off x="640080" y="3703320"/>
            <a:ext cx="7863840" cy="274320"/>
          </a:xfrm>
          <a:prstGeom prst="rect">
            <a:avLst/>
          </a:prstGeom>
          <a:noFill/>
          <a:ln/>
        </p:spPr>
        <p:txBody>
          <a:bodyPr wrap="square" lIns="0" tIns="0" rIns="0" bIns="0" rtlCol="0" anchor="t"/>
          <a:lstStyle/>
          <a:p>
            <a:pPr indent="0" marL="0">
              <a:buNone/>
            </a:pPr>
            <a:r>
              <a:rPr lang="en-US" sz="1400" dirty="0">
                <a:solidFill>
                  <a:schemeClr val="bg1"/>
                </a:solidFill>
              </a:rPr>
              <a:t>Training: random Vin 10–14 V, R 10–30 Ω, Vref 20–28 V, random disturbances — never the 5 test scenarios</a:t>
            </a:r>
            <a:endParaRPr lang="en-US" sz="1400" dirty="0"/>
          </a:p>
        </p:txBody>
      </p:sp>
      <p:sp>
        <p:nvSpPr>
          <p:cNvPr id="15" name="card-138"/>
          <p:cNvSpPr/>
          <p:nvPr/>
        </p:nvSpPr>
        <p:spPr>
          <a:xfrm>
            <a:off x="457200" y="4160520"/>
            <a:ext cx="8229600" cy="457200"/>
          </a:xfrm>
          <a:prstGeom prst="roundRect">
            <a:avLst>
              <a:gd name="adj" fmla="val 20000"/>
            </a:avLst>
          </a:prstGeom>
          <a:solidFill>
            <a:schemeClr val="bg2"/>
          </a:solidFill>
          <a:ln w="15875">
            <a:solidFill>
              <a:schemeClr val="accent3"/>
            </a:solidFill>
            <a:prstDash val="solid"/>
          </a:ln>
        </p:spPr>
      </p:sp>
      <p:sp>
        <p:nvSpPr>
          <p:cNvPr id="16" name="text-139"/>
          <p:cNvSpPr txBox="1"/>
          <p:nvPr/>
        </p:nvSpPr>
        <p:spPr>
          <a:xfrm>
            <a:off x="640080" y="4251960"/>
            <a:ext cx="7863840" cy="274320"/>
          </a:xfrm>
          <a:prstGeom prst="rect">
            <a:avLst/>
          </a:prstGeom>
          <a:noFill/>
          <a:ln/>
        </p:spPr>
        <p:txBody>
          <a:bodyPr wrap="square" lIns="0" tIns="0" rIns="0" bIns="0" rtlCol="0" anchor="t"/>
          <a:lstStyle/>
          <a:p>
            <a:pPr indent="0" marL="0">
              <a:buNone/>
            </a:pPr>
            <a:r>
              <a:rPr lang="en-US" sz="1400" dirty="0">
                <a:solidFill>
                  <a:schemeClr val="tx1"/>
                </a:solidFill>
              </a:rPr>
              <a:t>Safety stops end an episode: Vout &gt; 60 V or IL &gt; 30 A (or a negative / non-finite state)</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TD3: the learning algorithm</a:t>
            </a:r>
            <a:endParaRPr lang="en-US" sz="3000" dirty="0"/>
          </a:p>
        </p:txBody>
      </p:sp>
      <p:sp>
        <p:nvSpPr>
          <p:cNvPr id="4" name="badge-140"/>
          <p:cNvSpPr/>
          <p:nvPr/>
        </p:nvSpPr>
        <p:spPr>
          <a:xfrm>
            <a:off x="457200" y="1234440"/>
            <a:ext cx="384048" cy="384048"/>
          </a:xfrm>
          <a:prstGeom prst="ellipse">
            <a:avLst/>
          </a:prstGeom>
          <a:solidFill>
            <a:schemeClr val="accent1"/>
          </a:solidFill>
          <a:ln/>
        </p:spPr>
      </p:sp>
      <p:sp>
        <p:nvSpPr>
          <p:cNvPr id="5" name="badge-num-141"/>
          <p:cNvSpPr txBox="1"/>
          <p:nvPr/>
        </p:nvSpPr>
        <p:spPr>
          <a:xfrm>
            <a:off x="457200" y="1234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142"/>
          <p:cNvSpPr txBox="1"/>
          <p:nvPr/>
        </p:nvSpPr>
        <p:spPr>
          <a:xfrm>
            <a:off x="1005840" y="1188720"/>
            <a:ext cx="3840480" cy="320040"/>
          </a:xfrm>
          <a:prstGeom prst="rect">
            <a:avLst/>
          </a:prstGeom>
          <a:noFill/>
          <a:ln/>
        </p:spPr>
        <p:txBody>
          <a:bodyPr wrap="square" lIns="0" tIns="0" rIns="0" bIns="0" rtlCol="0" anchor="t"/>
          <a:lstStyle/>
          <a:p>
            <a:pPr indent="0" marL="0">
              <a:buNone/>
            </a:pPr>
            <a:r>
              <a:rPr lang="en-US" sz="1700" b="1" dirty="0">
                <a:solidFill>
                  <a:schemeClr val="tx2"/>
                </a:solidFill>
              </a:rPr>
              <a:t>Twin critics</a:t>
            </a:r>
            <a:endParaRPr lang="en-US" sz="1700" dirty="0"/>
          </a:p>
        </p:txBody>
      </p:sp>
      <p:sp>
        <p:nvSpPr>
          <p:cNvPr id="7" name="text-143"/>
          <p:cNvSpPr txBox="1"/>
          <p:nvPr/>
        </p:nvSpPr>
        <p:spPr>
          <a:xfrm>
            <a:off x="1005840" y="1536192"/>
            <a:ext cx="3840480" cy="640080"/>
          </a:xfrm>
          <a:prstGeom prst="rect">
            <a:avLst/>
          </a:prstGeom>
          <a:noFill/>
          <a:ln/>
        </p:spPr>
        <p:txBody>
          <a:bodyPr wrap="square" lIns="0" tIns="0" rIns="0" bIns="0" rtlCol="0" anchor="t"/>
          <a:lstStyle/>
          <a:p>
            <a:pPr indent="0" marL="0">
              <a:buNone/>
            </a:pPr>
            <a:r>
              <a:rPr lang="en-US" sz="1400" dirty="0">
                <a:solidFill>
                  <a:schemeClr val="tx1"/>
                </a:solidFill>
              </a:rPr>
              <a:t>Use the smaller of two Q estimates to avoid over-optimism.</a:t>
            </a:r>
            <a:endParaRPr lang="en-US" sz="1400" dirty="0"/>
          </a:p>
        </p:txBody>
      </p:sp>
      <p:sp>
        <p:nvSpPr>
          <p:cNvPr id="8" name="badge-144"/>
          <p:cNvSpPr/>
          <p:nvPr/>
        </p:nvSpPr>
        <p:spPr>
          <a:xfrm>
            <a:off x="457200" y="2331720"/>
            <a:ext cx="384048" cy="384048"/>
          </a:xfrm>
          <a:prstGeom prst="ellipse">
            <a:avLst/>
          </a:prstGeom>
          <a:solidFill>
            <a:schemeClr val="accent1"/>
          </a:solidFill>
          <a:ln/>
        </p:spPr>
      </p:sp>
      <p:sp>
        <p:nvSpPr>
          <p:cNvPr id="9" name="badge-num-145"/>
          <p:cNvSpPr txBox="1"/>
          <p:nvPr/>
        </p:nvSpPr>
        <p:spPr>
          <a:xfrm>
            <a:off x="457200" y="2331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146"/>
          <p:cNvSpPr txBox="1"/>
          <p:nvPr/>
        </p:nvSpPr>
        <p:spPr>
          <a:xfrm>
            <a:off x="1005840" y="2286000"/>
            <a:ext cx="3840480" cy="320040"/>
          </a:xfrm>
          <a:prstGeom prst="rect">
            <a:avLst/>
          </a:prstGeom>
          <a:noFill/>
          <a:ln/>
        </p:spPr>
        <p:txBody>
          <a:bodyPr wrap="square" lIns="0" tIns="0" rIns="0" bIns="0" rtlCol="0" anchor="t"/>
          <a:lstStyle/>
          <a:p>
            <a:pPr indent="0" marL="0">
              <a:buNone/>
            </a:pPr>
            <a:r>
              <a:rPr lang="en-US" sz="1700" b="1" dirty="0">
                <a:solidFill>
                  <a:schemeClr val="tx2"/>
                </a:solidFill>
              </a:rPr>
              <a:t>Delayed actor updates</a:t>
            </a:r>
            <a:endParaRPr lang="en-US" sz="1700" dirty="0"/>
          </a:p>
        </p:txBody>
      </p:sp>
      <p:sp>
        <p:nvSpPr>
          <p:cNvPr id="11" name="text-147"/>
          <p:cNvSpPr txBox="1"/>
          <p:nvPr/>
        </p:nvSpPr>
        <p:spPr>
          <a:xfrm>
            <a:off x="1005840" y="2633472"/>
            <a:ext cx="3840480" cy="640080"/>
          </a:xfrm>
          <a:prstGeom prst="rect">
            <a:avLst/>
          </a:prstGeom>
          <a:noFill/>
          <a:ln/>
        </p:spPr>
        <p:txBody>
          <a:bodyPr wrap="square" lIns="0" tIns="0" rIns="0" bIns="0" rtlCol="0" anchor="t"/>
          <a:lstStyle/>
          <a:p>
            <a:pPr indent="0" marL="0">
              <a:buNone/>
            </a:pPr>
            <a:r>
              <a:rPr lang="en-US" sz="1400" dirty="0">
                <a:solidFill>
                  <a:schemeClr val="tx1"/>
                </a:solidFill>
              </a:rPr>
              <a:t>Update the actor once for every two critic updates.</a:t>
            </a:r>
            <a:endParaRPr lang="en-US" sz="1400" dirty="0"/>
          </a:p>
        </p:txBody>
      </p:sp>
      <p:sp>
        <p:nvSpPr>
          <p:cNvPr id="12" name="badge-148"/>
          <p:cNvSpPr/>
          <p:nvPr/>
        </p:nvSpPr>
        <p:spPr>
          <a:xfrm>
            <a:off x="457200" y="3429000"/>
            <a:ext cx="384048" cy="384048"/>
          </a:xfrm>
          <a:prstGeom prst="ellipse">
            <a:avLst/>
          </a:prstGeom>
          <a:solidFill>
            <a:schemeClr val="accent1"/>
          </a:solidFill>
          <a:ln/>
        </p:spPr>
      </p:sp>
      <p:sp>
        <p:nvSpPr>
          <p:cNvPr id="13" name="badge-num-149"/>
          <p:cNvSpPr txBox="1"/>
          <p:nvPr/>
        </p:nvSpPr>
        <p:spPr>
          <a:xfrm>
            <a:off x="457200" y="3429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150"/>
          <p:cNvSpPr txBox="1"/>
          <p:nvPr/>
        </p:nvSpPr>
        <p:spPr>
          <a:xfrm>
            <a:off x="1005840" y="3383280"/>
            <a:ext cx="3840480" cy="320040"/>
          </a:xfrm>
          <a:prstGeom prst="rect">
            <a:avLst/>
          </a:prstGeom>
          <a:noFill/>
          <a:ln/>
        </p:spPr>
        <p:txBody>
          <a:bodyPr wrap="square" lIns="0" tIns="0" rIns="0" bIns="0" rtlCol="0" anchor="t"/>
          <a:lstStyle/>
          <a:p>
            <a:pPr indent="0" marL="0">
              <a:buNone/>
            </a:pPr>
            <a:r>
              <a:rPr lang="en-US" sz="1700" b="1" dirty="0">
                <a:solidFill>
                  <a:schemeClr val="tx2"/>
                </a:solidFill>
              </a:rPr>
              <a:t>Target-policy smoothing</a:t>
            </a:r>
            <a:endParaRPr lang="en-US" sz="1700" dirty="0"/>
          </a:p>
        </p:txBody>
      </p:sp>
      <p:sp>
        <p:nvSpPr>
          <p:cNvPr id="15" name="text-151"/>
          <p:cNvSpPr txBox="1"/>
          <p:nvPr/>
        </p:nvSpPr>
        <p:spPr>
          <a:xfrm>
            <a:off x="1005840" y="3730752"/>
            <a:ext cx="3840480" cy="640080"/>
          </a:xfrm>
          <a:prstGeom prst="rect">
            <a:avLst/>
          </a:prstGeom>
          <a:noFill/>
          <a:ln/>
        </p:spPr>
        <p:txBody>
          <a:bodyPr wrap="square" lIns="0" tIns="0" rIns="0" bIns="0" rtlCol="0" anchor="t"/>
          <a:lstStyle/>
          <a:p>
            <a:pPr indent="0" marL="0">
              <a:buNone/>
            </a:pPr>
            <a:r>
              <a:rPr lang="en-US" sz="1400" dirty="0">
                <a:solidFill>
                  <a:schemeClr val="tx1"/>
                </a:solidFill>
              </a:rPr>
              <a:t>Add noise to the target action so the critic can’t exploit spikes.</a:t>
            </a:r>
            <a:endParaRPr lang="en-US" sz="1400" dirty="0"/>
          </a:p>
        </p:txBody>
      </p:sp>
      <p:graphicFrame>
        <p:nvGraphicFramePr>
          <p:cNvPr id="11" name="hyperparameter-table"/>
          <p:cNvGraphicFramePr>
            <a:graphicFrameLocks noGrp="1"/>
          </p:cNvGraphicFramePr>
          <p:nvPr>
            <p:extLst>
              <p:ext uri="{D42A27DB-BD31-4B8C-83A1-F6EECF244321}">
                <p14:modId xmlns:p14="http://schemas.microsoft.com/office/powerpoint/2010/main" val="1579011935"/>
              </p:ext>
            </p:extLst>
          </p:nvPr>
        </p:nvGraphicFramePr>
        <p:xfrm>
          <a:off x="5303520" y="1188720"/>
          <a:ext cx="3383280" cy="914400"/>
        </p:xfrm>
        <a:graphic>
          <a:graphicData uri="http://schemas.openxmlformats.org/drawingml/2006/table">
            <a:tbl>
              <a:tblPr/>
              <a:tblGrid>
                <a:gridCol w="1554480"/>
                <a:gridCol w="1828800"/>
              </a:tblGrid>
              <a:tr h="384048">
                <a:tc>
                  <a:txBody>
                    <a:bodyPr/>
                    <a:lstStyle/>
                    <a:p>
                      <a:pPr indent="0" marL="0">
                        <a:buNone/>
                      </a:pPr>
                      <a:r>
                        <a:rPr lang="en-US" sz="1400" b="1" dirty="0">
                          <a:solidFill>
                            <a:srgbClr val="14232B"/>
                          </a:solidFill>
                        </a:rPr>
                        <a:t>Network</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indent="0" marL="0">
                        <a:buNone/>
                      </a:pPr>
                      <a:r>
                        <a:rPr lang="en-US" sz="1400" dirty="0">
                          <a:solidFill>
                            <a:srgbClr val="14232B"/>
                          </a:solidFill>
                        </a:rPr>
                        <a:t>2 × 64 units</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84048">
                <a:tc>
                  <a:txBody>
                    <a:bodyPr/>
                    <a:lstStyle/>
                    <a:p>
                      <a:pPr indent="0" marL="0">
                        <a:buNone/>
                      </a:pPr>
                      <a:r>
                        <a:rPr lang="en-US" sz="1400" b="1" dirty="0">
                          <a:solidFill>
                            <a:srgbClr val="14232B"/>
                          </a:solidFill>
                        </a:rPr>
                        <a:t>Learning rate</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4232B"/>
                          </a:solidFill>
                        </a:rPr>
                        <a:t>1e-3</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4232B"/>
                          </a:solidFill>
                        </a:rPr>
                        <a:t>Discount γ</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indent="0" marL="0">
                        <a:buNone/>
                      </a:pPr>
                      <a:r>
                        <a:rPr lang="en-US" sz="1400" dirty="0">
                          <a:solidFill>
                            <a:srgbClr val="14232B"/>
                          </a:solidFill>
                        </a:rPr>
                        <a:t>0.99</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84048">
                <a:tc>
                  <a:txBody>
                    <a:bodyPr/>
                    <a:lstStyle/>
                    <a:p>
                      <a:pPr indent="0" marL="0">
                        <a:buNone/>
                      </a:pPr>
                      <a:r>
                        <a:rPr lang="en-US" sz="1400" b="1" dirty="0">
                          <a:solidFill>
                            <a:srgbClr val="14232B"/>
                          </a:solidFill>
                        </a:rPr>
                        <a:t>Target rate τ</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4232B"/>
                          </a:solidFill>
                        </a:rPr>
                        <a:t>0.005</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4232B"/>
                          </a:solidFill>
                        </a:rPr>
                        <a:t>Batch / buffer</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indent="0" marL="0">
                        <a:buNone/>
                      </a:pPr>
                      <a:r>
                        <a:rPr lang="en-US" sz="1400" dirty="0">
                          <a:solidFill>
                            <a:srgbClr val="14232B"/>
                          </a:solidFill>
                        </a:rPr>
                        <a:t>256 / 200k</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84048">
                <a:tc>
                  <a:txBody>
                    <a:bodyPr/>
                    <a:lstStyle/>
                    <a:p>
                      <a:pPr indent="0" marL="0">
                        <a:buNone/>
                      </a:pPr>
                      <a:r>
                        <a:rPr lang="en-US" sz="1400" b="1" dirty="0">
                          <a:solidFill>
                            <a:srgbClr val="14232B"/>
                          </a:solidFill>
                        </a:rPr>
                        <a:t>Exploration σ</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4232B"/>
                          </a:solidFill>
                        </a:rPr>
                        <a:t>0.1</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4232B"/>
                          </a:solidFill>
                        </a:rPr>
                        <a:t>Training</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indent="0" marL="0">
                        <a:buNone/>
                      </a:pPr>
                      <a:r>
                        <a:rPr lang="en-US" sz="1400" dirty="0">
                          <a:solidFill>
                            <a:srgbClr val="14232B"/>
                          </a:solidFill>
                        </a:rPr>
                        <a:t>200,000 steps</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84048">
                <a:tc>
                  <a:txBody>
                    <a:bodyPr/>
                    <a:lstStyle/>
                    <a:p>
                      <a:pPr indent="0" marL="0">
                        <a:buNone/>
                      </a:pPr>
                      <a:r>
                        <a:rPr lang="en-US" sz="1400" b="1" dirty="0">
                          <a:solidFill>
                            <a:srgbClr val="14232B"/>
                          </a:solidFill>
                        </a:rPr>
                        <a:t>Seeds</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4232B"/>
                          </a:solidFill>
                        </a:rPr>
                        <a:t>0, 1, 2</a:t>
                      </a:r>
                      <a:endParaRPr lang="en-US" sz="1400" dirty="0"/>
                    </a:p>
                  </a:txBody>
                  <a:tcPr marL="73152" marR="73152"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bl>
          </a:graphicData>
        </a:graphic>
      </p:graphicFrame>
      <p:sp>
        <p:nvSpPr>
          <p:cNvPr id="17" name="text-152"/>
          <p:cNvSpPr txBox="1"/>
          <p:nvPr/>
        </p:nvSpPr>
        <p:spPr>
          <a:xfrm>
            <a:off x="5303520" y="4389120"/>
            <a:ext cx="3383280" cy="274320"/>
          </a:xfrm>
          <a:prstGeom prst="rect">
            <a:avLst/>
          </a:prstGeom>
          <a:noFill/>
          <a:ln/>
        </p:spPr>
        <p:txBody>
          <a:bodyPr wrap="square" lIns="0" tIns="0" rIns="0" bIns="0" rtlCol="0" anchor="t"/>
          <a:lstStyle/>
          <a:p>
            <a:pPr indent="0" marL="0">
              <a:buNone/>
            </a:pPr>
            <a:r>
              <a:rPr lang="en-US" sz="1200" dirty="0">
                <a:solidFill>
                  <a:schemeClr val="accent6"/>
                </a:solidFill>
              </a:rPr>
              <a:t>Same settings for all three RL controllers.</a:t>
            </a:r>
            <a:endParaRPr lang="en-US" sz="12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Three ways to use the network</a:t>
            </a:r>
            <a:endParaRPr lang="en-US" sz="3000" dirty="0"/>
          </a:p>
        </p:txBody>
      </p:sp>
      <p:sp>
        <p:nvSpPr>
          <p:cNvPr id="4" name="card-153"/>
          <p:cNvSpPr/>
          <p:nvPr/>
        </p:nvSpPr>
        <p:spPr>
          <a:xfrm>
            <a:off x="457200" y="1188720"/>
            <a:ext cx="2011680" cy="868680"/>
          </a:xfrm>
          <a:prstGeom prst="roundRect">
            <a:avLst>
              <a:gd name="adj" fmla="val 10526"/>
            </a:avLst>
          </a:prstGeom>
          <a:solidFill>
            <a:schemeClr val="bg2"/>
          </a:solidFill>
          <a:ln/>
        </p:spPr>
      </p:sp>
      <p:sp>
        <p:nvSpPr>
          <p:cNvPr id="5" name="text-154"/>
          <p:cNvSpPr txBox="1"/>
          <p:nvPr/>
        </p:nvSpPr>
        <p:spPr>
          <a:xfrm>
            <a:off x="594360" y="1298448"/>
            <a:ext cx="1783080" cy="274320"/>
          </a:xfrm>
          <a:prstGeom prst="rect">
            <a:avLst/>
          </a:prstGeom>
          <a:noFill/>
          <a:ln/>
        </p:spPr>
        <p:txBody>
          <a:bodyPr wrap="square" lIns="0" tIns="0" rIns="0" bIns="0" rtlCol="0" anchor="t"/>
          <a:lstStyle/>
          <a:p>
            <a:pPr indent="0" marL="0">
              <a:buNone/>
            </a:pPr>
            <a:r>
              <a:rPr lang="en-US" sz="1500" b="1" dirty="0">
                <a:solidFill>
                  <a:schemeClr val="tx2"/>
                </a:solidFill>
              </a:rPr>
              <a:t>Direct TD3</a:t>
            </a:r>
            <a:endParaRPr lang="en-US" sz="1500" dirty="0"/>
          </a:p>
        </p:txBody>
      </p:sp>
      <p:sp>
        <p:nvSpPr>
          <p:cNvPr id="6" name="text-155"/>
          <p:cNvSpPr txBox="1"/>
          <p:nvPr/>
        </p:nvSpPr>
        <p:spPr>
          <a:xfrm>
            <a:off x="594360" y="1600200"/>
            <a:ext cx="1783080" cy="411480"/>
          </a:xfrm>
          <a:prstGeom prst="rect">
            <a:avLst/>
          </a:prstGeom>
          <a:noFill/>
          <a:ln/>
        </p:spPr>
        <p:txBody>
          <a:bodyPr wrap="square" lIns="0" tIns="0" rIns="0" bIns="0" rtlCol="0" anchor="t"/>
          <a:lstStyle/>
          <a:p>
            <a:pPr indent="0" marL="0">
              <a:buNone/>
            </a:pPr>
            <a:r>
              <a:rPr lang="en-US" sz="1100" dirty="0">
                <a:solidFill>
                  <a:schemeClr val="accent6"/>
                </a:solidFill>
              </a:rPr>
              <a:t>the network sets the duty</a:t>
            </a:r>
            <a:endParaRPr lang="en-US" sz="1100" dirty="0"/>
          </a:p>
        </p:txBody>
      </p:sp>
      <p:sp>
        <p:nvSpPr>
          <p:cNvPr id="7" name="box-156"/>
          <p:cNvSpPr/>
          <p:nvPr/>
        </p:nvSpPr>
        <p:spPr>
          <a:xfrm>
            <a:off x="2743200" y="1353312"/>
            <a:ext cx="1325880" cy="548640"/>
          </a:xfrm>
          <a:prstGeom prst="roundRect">
            <a:avLst>
              <a:gd name="adj" fmla="val 13333"/>
            </a:avLst>
          </a:prstGeom>
          <a:solidFill>
            <a:schemeClr val="bg2"/>
          </a:solidFill>
          <a:ln w="25400">
            <a:solidFill>
              <a:schemeClr val="accent1"/>
            </a:solidFill>
            <a:prstDash val="solid"/>
          </a:ln>
        </p:spPr>
      </p:sp>
      <p:sp>
        <p:nvSpPr>
          <p:cNvPr id="8" name="box-text-157"/>
          <p:cNvSpPr txBox="1"/>
          <p:nvPr/>
        </p:nvSpPr>
        <p:spPr>
          <a:xfrm>
            <a:off x="2743200" y="1353312"/>
            <a:ext cx="1325880" cy="548640"/>
          </a:xfrm>
          <a:prstGeom prst="rect">
            <a:avLst/>
          </a:prstGeom>
          <a:noFill/>
          <a:ln/>
        </p:spPr>
        <p:txBody>
          <a:bodyPr wrap="square" lIns="508" tIns="508" rIns="508" bIns="508" rtlCol="0" anchor="ctr"/>
          <a:lstStyle/>
          <a:p>
            <a:pPr algn="ctr" indent="0" marL="0">
              <a:buNone/>
            </a:pPr>
            <a:r>
              <a:rPr lang="en-US" sz="1300" b="1" dirty="0">
                <a:solidFill>
                  <a:schemeClr val="tx1"/>
                </a:solidFill>
              </a:rPr>
              <a:t>TD3 network</a:t>
            </a:r>
            <a:endParaRPr lang="en-US" sz="1300" dirty="0"/>
          </a:p>
        </p:txBody>
      </p:sp>
      <p:sp>
        <p:nvSpPr>
          <p:cNvPr id="9" name="arrow-158"/>
          <p:cNvSpPr/>
          <p:nvPr/>
        </p:nvSpPr>
        <p:spPr>
          <a:xfrm>
            <a:off x="4069080" y="1627632"/>
            <a:ext cx="3794760" cy="0"/>
          </a:xfrm>
          <a:prstGeom prst="line">
            <a:avLst/>
          </a:prstGeom>
          <a:noFill/>
          <a:ln w="19050">
            <a:solidFill>
              <a:schemeClr val="accent6"/>
            </a:solidFill>
            <a:prstDash val="solid"/>
            <a:tailEnd type="triangle"/>
          </a:ln>
        </p:spPr>
      </p:sp>
      <p:sp>
        <p:nvSpPr>
          <p:cNvPr id="10" name="text-159"/>
          <p:cNvSpPr txBox="1"/>
          <p:nvPr/>
        </p:nvSpPr>
        <p:spPr>
          <a:xfrm>
            <a:off x="4572000" y="1353312"/>
            <a:ext cx="2926080" cy="256032"/>
          </a:xfrm>
          <a:prstGeom prst="rect">
            <a:avLst/>
          </a:prstGeom>
          <a:noFill/>
          <a:ln/>
        </p:spPr>
        <p:txBody>
          <a:bodyPr wrap="square" lIns="0" tIns="0" rIns="0" bIns="0" rtlCol="0" anchor="t"/>
          <a:lstStyle/>
          <a:p>
            <a:pPr algn="ctr" indent="0" marL="0">
              <a:buNone/>
            </a:pPr>
            <a:r>
              <a:rPr lang="en-US" sz="1300" dirty="0">
                <a:solidFill>
                  <a:schemeClr val="accent6"/>
                </a:solidFill>
              </a:rPr>
              <a:t>duty D (0.05 – 0.95)</a:t>
            </a:r>
            <a:endParaRPr lang="en-US" sz="1300" dirty="0"/>
          </a:p>
        </p:txBody>
      </p:sp>
      <p:sp>
        <p:nvSpPr>
          <p:cNvPr id="11" name="box-160"/>
          <p:cNvSpPr/>
          <p:nvPr/>
        </p:nvSpPr>
        <p:spPr>
          <a:xfrm>
            <a:off x="7863840" y="1353312"/>
            <a:ext cx="822960" cy="548640"/>
          </a:xfrm>
          <a:prstGeom prst="roundRect">
            <a:avLst>
              <a:gd name="adj" fmla="val 13333"/>
            </a:avLst>
          </a:prstGeom>
          <a:solidFill>
            <a:schemeClr val="bg1"/>
          </a:solidFill>
          <a:ln w="15875">
            <a:solidFill>
              <a:schemeClr val="accent6"/>
            </a:solidFill>
            <a:prstDash val="solid"/>
          </a:ln>
        </p:spPr>
      </p:sp>
      <p:sp>
        <p:nvSpPr>
          <p:cNvPr id="12" name="box-text-161"/>
          <p:cNvSpPr txBox="1"/>
          <p:nvPr/>
        </p:nvSpPr>
        <p:spPr>
          <a:xfrm>
            <a:off x="7863840" y="1353312"/>
            <a:ext cx="822960" cy="548640"/>
          </a:xfrm>
          <a:prstGeom prst="rect">
            <a:avLst/>
          </a:prstGeom>
          <a:noFill/>
          <a:ln/>
        </p:spPr>
        <p:txBody>
          <a:bodyPr wrap="square" lIns="508" tIns="508" rIns="508" bIns="508" rtlCol="0" anchor="ctr"/>
          <a:lstStyle/>
          <a:p>
            <a:pPr algn="ctr" indent="0" marL="0">
              <a:buNone/>
            </a:pPr>
            <a:r>
              <a:rPr lang="en-US" sz="1100" dirty="0">
                <a:solidFill>
                  <a:schemeClr val="tx1"/>
                </a:solidFill>
              </a:rPr>
              <a:t>Converter</a:t>
            </a:r>
            <a:endParaRPr lang="en-US" sz="1100" dirty="0"/>
          </a:p>
        </p:txBody>
      </p:sp>
      <p:sp>
        <p:nvSpPr>
          <p:cNvPr id="13" name="card-162"/>
          <p:cNvSpPr/>
          <p:nvPr/>
        </p:nvSpPr>
        <p:spPr>
          <a:xfrm>
            <a:off x="457200" y="2286000"/>
            <a:ext cx="2011680" cy="868680"/>
          </a:xfrm>
          <a:prstGeom prst="roundRect">
            <a:avLst>
              <a:gd name="adj" fmla="val 10526"/>
            </a:avLst>
          </a:prstGeom>
          <a:solidFill>
            <a:schemeClr val="bg2"/>
          </a:solidFill>
          <a:ln/>
        </p:spPr>
      </p:sp>
      <p:sp>
        <p:nvSpPr>
          <p:cNvPr id="14" name="text-163"/>
          <p:cNvSpPr txBox="1"/>
          <p:nvPr/>
        </p:nvSpPr>
        <p:spPr>
          <a:xfrm>
            <a:off x="594360" y="2395728"/>
            <a:ext cx="1783080" cy="274320"/>
          </a:xfrm>
          <a:prstGeom prst="rect">
            <a:avLst/>
          </a:prstGeom>
          <a:noFill/>
          <a:ln/>
        </p:spPr>
        <p:txBody>
          <a:bodyPr wrap="square" lIns="0" tIns="0" rIns="0" bIns="0" rtlCol="0" anchor="t"/>
          <a:lstStyle/>
          <a:p>
            <a:pPr indent="0" marL="0">
              <a:buNone/>
            </a:pPr>
            <a:r>
              <a:rPr lang="en-US" sz="1500" b="1" dirty="0">
                <a:solidFill>
                  <a:schemeClr val="tx2"/>
                </a:solidFill>
              </a:rPr>
              <a:t>Adaptive PID</a:t>
            </a:r>
            <a:endParaRPr lang="en-US" sz="1500" dirty="0"/>
          </a:p>
        </p:txBody>
      </p:sp>
      <p:sp>
        <p:nvSpPr>
          <p:cNvPr id="15" name="text-164"/>
          <p:cNvSpPr txBox="1"/>
          <p:nvPr/>
        </p:nvSpPr>
        <p:spPr>
          <a:xfrm>
            <a:off x="594360" y="2697480"/>
            <a:ext cx="1783080" cy="411480"/>
          </a:xfrm>
          <a:prstGeom prst="rect">
            <a:avLst/>
          </a:prstGeom>
          <a:noFill/>
          <a:ln/>
        </p:spPr>
        <p:txBody>
          <a:bodyPr wrap="square" lIns="0" tIns="0" rIns="0" bIns="0" rtlCol="0" anchor="t"/>
          <a:lstStyle/>
          <a:p>
            <a:pPr indent="0" marL="0">
              <a:buNone/>
            </a:pPr>
            <a:r>
              <a:rPr lang="en-US" sz="1100" dirty="0">
                <a:solidFill>
                  <a:schemeClr val="accent6"/>
                </a:solidFill>
              </a:rPr>
              <a:t>the network tunes 3 gains</a:t>
            </a:r>
            <a:endParaRPr lang="en-US" sz="1100" dirty="0"/>
          </a:p>
        </p:txBody>
      </p:sp>
      <p:sp>
        <p:nvSpPr>
          <p:cNvPr id="16" name="box-165"/>
          <p:cNvSpPr/>
          <p:nvPr/>
        </p:nvSpPr>
        <p:spPr>
          <a:xfrm>
            <a:off x="2743200" y="2450592"/>
            <a:ext cx="1325880" cy="548640"/>
          </a:xfrm>
          <a:prstGeom prst="roundRect">
            <a:avLst>
              <a:gd name="adj" fmla="val 13333"/>
            </a:avLst>
          </a:prstGeom>
          <a:solidFill>
            <a:schemeClr val="bg2"/>
          </a:solidFill>
          <a:ln w="25400">
            <a:solidFill>
              <a:schemeClr val="accent1"/>
            </a:solidFill>
            <a:prstDash val="solid"/>
          </a:ln>
        </p:spPr>
      </p:sp>
      <p:sp>
        <p:nvSpPr>
          <p:cNvPr id="17" name="box-text-166"/>
          <p:cNvSpPr txBox="1"/>
          <p:nvPr/>
        </p:nvSpPr>
        <p:spPr>
          <a:xfrm>
            <a:off x="2743200" y="2450592"/>
            <a:ext cx="1325880" cy="548640"/>
          </a:xfrm>
          <a:prstGeom prst="rect">
            <a:avLst/>
          </a:prstGeom>
          <a:noFill/>
          <a:ln/>
        </p:spPr>
        <p:txBody>
          <a:bodyPr wrap="square" lIns="508" tIns="508" rIns="508" bIns="508" rtlCol="0" anchor="ctr"/>
          <a:lstStyle/>
          <a:p>
            <a:pPr algn="ctr" indent="0" marL="0">
              <a:buNone/>
            </a:pPr>
            <a:r>
              <a:rPr lang="en-US" sz="1300" b="1" dirty="0">
                <a:solidFill>
                  <a:schemeClr val="tx1"/>
                </a:solidFill>
              </a:rPr>
              <a:t>TD3 network</a:t>
            </a:r>
            <a:endParaRPr lang="en-US" sz="1300" dirty="0"/>
          </a:p>
        </p:txBody>
      </p:sp>
      <p:sp>
        <p:nvSpPr>
          <p:cNvPr id="18" name="arrow-167"/>
          <p:cNvSpPr/>
          <p:nvPr/>
        </p:nvSpPr>
        <p:spPr>
          <a:xfrm>
            <a:off x="4069080" y="2724912"/>
            <a:ext cx="320040" cy="0"/>
          </a:xfrm>
          <a:prstGeom prst="line">
            <a:avLst/>
          </a:prstGeom>
          <a:noFill/>
          <a:ln w="19050">
            <a:solidFill>
              <a:schemeClr val="accent6"/>
            </a:solidFill>
            <a:prstDash val="solid"/>
            <a:tailEnd type="triangle"/>
          </a:ln>
        </p:spPr>
      </p:sp>
      <p:sp>
        <p:nvSpPr>
          <p:cNvPr id="19" name="box-168"/>
          <p:cNvSpPr/>
          <p:nvPr/>
        </p:nvSpPr>
        <p:spPr>
          <a:xfrm>
            <a:off x="4389120" y="2450592"/>
            <a:ext cx="1417320" cy="548640"/>
          </a:xfrm>
          <a:prstGeom prst="roundRect">
            <a:avLst>
              <a:gd name="adj" fmla="val 13333"/>
            </a:avLst>
          </a:prstGeom>
          <a:solidFill>
            <a:schemeClr val="bg1"/>
          </a:solidFill>
          <a:ln w="15875">
            <a:solidFill>
              <a:schemeClr val="accent6"/>
            </a:solidFill>
            <a:prstDash val="solid"/>
          </a:ln>
        </p:spPr>
      </p:sp>
      <p:sp>
        <p:nvSpPr>
          <p:cNvPr id="20" name="box-text-169"/>
          <p:cNvSpPr txBox="1"/>
          <p:nvPr/>
        </p:nvSpPr>
        <p:spPr>
          <a:xfrm>
            <a:off x="4389120" y="2450592"/>
            <a:ext cx="1417320" cy="548640"/>
          </a:xfrm>
          <a:prstGeom prst="rect">
            <a:avLst/>
          </a:prstGeom>
          <a:noFill/>
          <a:ln/>
        </p:spPr>
        <p:txBody>
          <a:bodyPr wrap="square" lIns="508" tIns="508" rIns="508" bIns="508" rtlCol="0" anchor="ctr"/>
          <a:lstStyle/>
          <a:p>
            <a:pPr algn="ctr" indent="0" marL="0">
              <a:buNone/>
            </a:pPr>
            <a:r>
              <a:rPr lang="en-US" sz="1300" dirty="0">
                <a:solidFill>
                  <a:schemeClr val="tx1"/>
                </a:solidFill>
              </a:rPr>
              <a:t>Kp, Ki, Kd</a:t>
            </a:r>
            <a:endParaRPr lang="en-US" sz="1300" dirty="0"/>
          </a:p>
        </p:txBody>
      </p:sp>
      <p:sp>
        <p:nvSpPr>
          <p:cNvPr id="21" name="text-170"/>
          <p:cNvSpPr txBox="1"/>
          <p:nvPr/>
        </p:nvSpPr>
        <p:spPr>
          <a:xfrm>
            <a:off x="4343400" y="3017520"/>
            <a:ext cx="1554480" cy="182880"/>
          </a:xfrm>
          <a:prstGeom prst="rect">
            <a:avLst/>
          </a:prstGeom>
          <a:noFill/>
          <a:ln/>
        </p:spPr>
        <p:txBody>
          <a:bodyPr wrap="square" lIns="0" tIns="0" rIns="0" bIns="0" rtlCol="0" anchor="t"/>
          <a:lstStyle/>
          <a:p>
            <a:pPr algn="ctr" indent="0" marL="0">
              <a:buNone/>
            </a:pPr>
            <a:r>
              <a:rPr lang="en-US" sz="1000" dirty="0">
                <a:solidFill>
                  <a:schemeClr val="accent6"/>
                </a:solidFill>
              </a:rPr>
              <a:t>bounded + smoothed</a:t>
            </a:r>
            <a:endParaRPr lang="en-US" sz="1000" dirty="0"/>
          </a:p>
        </p:txBody>
      </p:sp>
      <p:sp>
        <p:nvSpPr>
          <p:cNvPr id="22" name="arrow-171"/>
          <p:cNvSpPr/>
          <p:nvPr/>
        </p:nvSpPr>
        <p:spPr>
          <a:xfrm>
            <a:off x="5806440" y="2724912"/>
            <a:ext cx="365760" cy="0"/>
          </a:xfrm>
          <a:prstGeom prst="line">
            <a:avLst/>
          </a:prstGeom>
          <a:noFill/>
          <a:ln w="19050">
            <a:solidFill>
              <a:schemeClr val="accent6"/>
            </a:solidFill>
            <a:prstDash val="solid"/>
            <a:tailEnd type="triangle"/>
          </a:ln>
        </p:spPr>
      </p:sp>
      <p:sp>
        <p:nvSpPr>
          <p:cNvPr id="23" name="box-172"/>
          <p:cNvSpPr/>
          <p:nvPr/>
        </p:nvSpPr>
        <p:spPr>
          <a:xfrm>
            <a:off x="6172200" y="2450592"/>
            <a:ext cx="914400" cy="548640"/>
          </a:xfrm>
          <a:prstGeom prst="roundRect">
            <a:avLst>
              <a:gd name="adj" fmla="val 13333"/>
            </a:avLst>
          </a:prstGeom>
          <a:solidFill>
            <a:schemeClr val="bg1"/>
          </a:solidFill>
          <a:ln w="15875">
            <a:solidFill>
              <a:schemeClr val="accent6"/>
            </a:solidFill>
            <a:prstDash val="solid"/>
          </a:ln>
        </p:spPr>
      </p:sp>
      <p:sp>
        <p:nvSpPr>
          <p:cNvPr id="24" name="box-text-173"/>
          <p:cNvSpPr txBox="1"/>
          <p:nvPr/>
        </p:nvSpPr>
        <p:spPr>
          <a:xfrm>
            <a:off x="6172200" y="2450592"/>
            <a:ext cx="914400" cy="548640"/>
          </a:xfrm>
          <a:prstGeom prst="rect">
            <a:avLst/>
          </a:prstGeom>
          <a:noFill/>
          <a:ln/>
        </p:spPr>
        <p:txBody>
          <a:bodyPr wrap="square" lIns="508" tIns="508" rIns="508" bIns="508" rtlCol="0" anchor="ctr"/>
          <a:lstStyle/>
          <a:p>
            <a:pPr algn="ctr" indent="0" marL="0">
              <a:buNone/>
            </a:pPr>
            <a:r>
              <a:rPr lang="en-US" sz="1400" b="1" dirty="0">
                <a:solidFill>
                  <a:schemeClr val="tx1"/>
                </a:solidFill>
              </a:rPr>
              <a:t>PID</a:t>
            </a:r>
            <a:endParaRPr lang="en-US" sz="1400" dirty="0"/>
          </a:p>
        </p:txBody>
      </p:sp>
      <p:sp>
        <p:nvSpPr>
          <p:cNvPr id="25" name="arrow-174"/>
          <p:cNvSpPr/>
          <p:nvPr/>
        </p:nvSpPr>
        <p:spPr>
          <a:xfrm>
            <a:off x="7086600" y="2724912"/>
            <a:ext cx="777240" cy="0"/>
          </a:xfrm>
          <a:prstGeom prst="line">
            <a:avLst/>
          </a:prstGeom>
          <a:noFill/>
          <a:ln w="19050">
            <a:solidFill>
              <a:schemeClr val="accent6"/>
            </a:solidFill>
            <a:prstDash val="solid"/>
            <a:tailEnd type="triangle"/>
          </a:ln>
        </p:spPr>
      </p:sp>
      <p:sp>
        <p:nvSpPr>
          <p:cNvPr id="26" name="text-175"/>
          <p:cNvSpPr txBox="1"/>
          <p:nvPr/>
        </p:nvSpPr>
        <p:spPr>
          <a:xfrm>
            <a:off x="7360920" y="2468880"/>
            <a:ext cx="457200" cy="228600"/>
          </a:xfrm>
          <a:prstGeom prst="rect">
            <a:avLst/>
          </a:prstGeom>
          <a:noFill/>
          <a:ln/>
        </p:spPr>
        <p:txBody>
          <a:bodyPr wrap="square" lIns="0" tIns="0" rIns="0" bIns="0" rtlCol="0" anchor="t"/>
          <a:lstStyle/>
          <a:p>
            <a:pPr algn="ctr" indent="0" marL="0">
              <a:buNone/>
            </a:pPr>
            <a:r>
              <a:rPr lang="en-US" sz="1200" dirty="0">
                <a:solidFill>
                  <a:schemeClr val="accent6"/>
                </a:solidFill>
              </a:rPr>
              <a:t>D</a:t>
            </a:r>
            <a:endParaRPr lang="en-US" sz="1200" dirty="0"/>
          </a:p>
        </p:txBody>
      </p:sp>
      <p:sp>
        <p:nvSpPr>
          <p:cNvPr id="27" name="box-176"/>
          <p:cNvSpPr/>
          <p:nvPr/>
        </p:nvSpPr>
        <p:spPr>
          <a:xfrm>
            <a:off x="7863840" y="2450592"/>
            <a:ext cx="822960" cy="548640"/>
          </a:xfrm>
          <a:prstGeom prst="roundRect">
            <a:avLst>
              <a:gd name="adj" fmla="val 13333"/>
            </a:avLst>
          </a:prstGeom>
          <a:solidFill>
            <a:schemeClr val="bg1"/>
          </a:solidFill>
          <a:ln w="15875">
            <a:solidFill>
              <a:schemeClr val="accent6"/>
            </a:solidFill>
            <a:prstDash val="solid"/>
          </a:ln>
        </p:spPr>
      </p:sp>
      <p:sp>
        <p:nvSpPr>
          <p:cNvPr id="28" name="box-text-177"/>
          <p:cNvSpPr txBox="1"/>
          <p:nvPr/>
        </p:nvSpPr>
        <p:spPr>
          <a:xfrm>
            <a:off x="7863840" y="2450592"/>
            <a:ext cx="822960" cy="548640"/>
          </a:xfrm>
          <a:prstGeom prst="rect">
            <a:avLst/>
          </a:prstGeom>
          <a:noFill/>
          <a:ln/>
        </p:spPr>
        <p:txBody>
          <a:bodyPr wrap="square" lIns="508" tIns="508" rIns="508" bIns="508" rtlCol="0" anchor="ctr"/>
          <a:lstStyle/>
          <a:p>
            <a:pPr algn="ctr" indent="0" marL="0">
              <a:buNone/>
            </a:pPr>
            <a:r>
              <a:rPr lang="en-US" sz="1100" dirty="0">
                <a:solidFill>
                  <a:schemeClr val="tx1"/>
                </a:solidFill>
              </a:rPr>
              <a:t>Converter</a:t>
            </a:r>
            <a:endParaRPr lang="en-US" sz="1100" dirty="0"/>
          </a:p>
        </p:txBody>
      </p:sp>
      <p:sp>
        <p:nvSpPr>
          <p:cNvPr id="29" name="card-178"/>
          <p:cNvSpPr/>
          <p:nvPr/>
        </p:nvSpPr>
        <p:spPr>
          <a:xfrm>
            <a:off x="457200" y="3383280"/>
            <a:ext cx="2011680" cy="868680"/>
          </a:xfrm>
          <a:prstGeom prst="roundRect">
            <a:avLst>
              <a:gd name="adj" fmla="val 10526"/>
            </a:avLst>
          </a:prstGeom>
          <a:solidFill>
            <a:schemeClr val="bg2"/>
          </a:solidFill>
          <a:ln/>
        </p:spPr>
      </p:sp>
      <p:sp>
        <p:nvSpPr>
          <p:cNvPr id="30" name="text-179"/>
          <p:cNvSpPr txBox="1"/>
          <p:nvPr/>
        </p:nvSpPr>
        <p:spPr>
          <a:xfrm>
            <a:off x="594360" y="3493008"/>
            <a:ext cx="1783080" cy="274320"/>
          </a:xfrm>
          <a:prstGeom prst="rect">
            <a:avLst/>
          </a:prstGeom>
          <a:noFill/>
          <a:ln/>
        </p:spPr>
        <p:txBody>
          <a:bodyPr wrap="square" lIns="0" tIns="0" rIns="0" bIns="0" rtlCol="0" anchor="t"/>
          <a:lstStyle/>
          <a:p>
            <a:pPr indent="0" marL="0">
              <a:buNone/>
            </a:pPr>
            <a:r>
              <a:rPr lang="en-US" sz="1500" b="1" dirty="0">
                <a:solidFill>
                  <a:schemeClr val="tx2"/>
                </a:solidFill>
              </a:rPr>
              <a:t>Adaptive SMC</a:t>
            </a:r>
            <a:endParaRPr lang="en-US" sz="1500" dirty="0"/>
          </a:p>
        </p:txBody>
      </p:sp>
      <p:sp>
        <p:nvSpPr>
          <p:cNvPr id="31" name="text-180"/>
          <p:cNvSpPr txBox="1"/>
          <p:nvPr/>
        </p:nvSpPr>
        <p:spPr>
          <a:xfrm>
            <a:off x="594360" y="3794760"/>
            <a:ext cx="1783080" cy="411480"/>
          </a:xfrm>
          <a:prstGeom prst="rect">
            <a:avLst/>
          </a:prstGeom>
          <a:noFill/>
          <a:ln/>
        </p:spPr>
        <p:txBody>
          <a:bodyPr wrap="square" lIns="0" tIns="0" rIns="0" bIns="0" rtlCol="0" anchor="t"/>
          <a:lstStyle/>
          <a:p>
            <a:pPr indent="0" marL="0">
              <a:buNone/>
            </a:pPr>
            <a:r>
              <a:rPr lang="en-US" sz="1100" dirty="0">
                <a:solidFill>
                  <a:schemeClr val="accent6"/>
                </a:solidFill>
              </a:rPr>
              <a:t>the network tunes 4 parameters</a:t>
            </a:r>
            <a:endParaRPr lang="en-US" sz="1100" dirty="0"/>
          </a:p>
        </p:txBody>
      </p:sp>
      <p:sp>
        <p:nvSpPr>
          <p:cNvPr id="32" name="box-181"/>
          <p:cNvSpPr/>
          <p:nvPr/>
        </p:nvSpPr>
        <p:spPr>
          <a:xfrm>
            <a:off x="2743200" y="3547872"/>
            <a:ext cx="1325880" cy="548640"/>
          </a:xfrm>
          <a:prstGeom prst="roundRect">
            <a:avLst>
              <a:gd name="adj" fmla="val 13333"/>
            </a:avLst>
          </a:prstGeom>
          <a:solidFill>
            <a:schemeClr val="bg2"/>
          </a:solidFill>
          <a:ln w="25400">
            <a:solidFill>
              <a:schemeClr val="accent1"/>
            </a:solidFill>
            <a:prstDash val="solid"/>
          </a:ln>
        </p:spPr>
      </p:sp>
      <p:sp>
        <p:nvSpPr>
          <p:cNvPr id="33" name="box-text-182"/>
          <p:cNvSpPr txBox="1"/>
          <p:nvPr/>
        </p:nvSpPr>
        <p:spPr>
          <a:xfrm>
            <a:off x="2743200" y="3547872"/>
            <a:ext cx="1325880" cy="548640"/>
          </a:xfrm>
          <a:prstGeom prst="rect">
            <a:avLst/>
          </a:prstGeom>
          <a:noFill/>
          <a:ln/>
        </p:spPr>
        <p:txBody>
          <a:bodyPr wrap="square" lIns="508" tIns="508" rIns="508" bIns="508" rtlCol="0" anchor="ctr"/>
          <a:lstStyle/>
          <a:p>
            <a:pPr algn="ctr" indent="0" marL="0">
              <a:buNone/>
            </a:pPr>
            <a:r>
              <a:rPr lang="en-US" sz="1300" b="1" dirty="0">
                <a:solidFill>
                  <a:schemeClr val="tx1"/>
                </a:solidFill>
              </a:rPr>
              <a:t>TD3 network</a:t>
            </a:r>
            <a:endParaRPr lang="en-US" sz="1300" dirty="0"/>
          </a:p>
        </p:txBody>
      </p:sp>
      <p:sp>
        <p:nvSpPr>
          <p:cNvPr id="34" name="arrow-183"/>
          <p:cNvSpPr/>
          <p:nvPr/>
        </p:nvSpPr>
        <p:spPr>
          <a:xfrm>
            <a:off x="4069080" y="3822192"/>
            <a:ext cx="320040" cy="0"/>
          </a:xfrm>
          <a:prstGeom prst="line">
            <a:avLst/>
          </a:prstGeom>
          <a:noFill/>
          <a:ln w="19050">
            <a:solidFill>
              <a:schemeClr val="accent6"/>
            </a:solidFill>
            <a:prstDash val="solid"/>
            <a:tailEnd type="triangle"/>
          </a:ln>
        </p:spPr>
      </p:sp>
      <p:sp>
        <p:nvSpPr>
          <p:cNvPr id="35" name="box-184"/>
          <p:cNvSpPr/>
          <p:nvPr/>
        </p:nvSpPr>
        <p:spPr>
          <a:xfrm>
            <a:off x="4389120" y="3547872"/>
            <a:ext cx="1417320" cy="548640"/>
          </a:xfrm>
          <a:prstGeom prst="roundRect">
            <a:avLst>
              <a:gd name="adj" fmla="val 13333"/>
            </a:avLst>
          </a:prstGeom>
          <a:solidFill>
            <a:schemeClr val="bg1"/>
          </a:solidFill>
          <a:ln w="15875">
            <a:solidFill>
              <a:schemeClr val="accent6"/>
            </a:solidFill>
            <a:prstDash val="solid"/>
          </a:ln>
        </p:spPr>
      </p:sp>
      <p:sp>
        <p:nvSpPr>
          <p:cNvPr id="36" name="box-text-185"/>
          <p:cNvSpPr txBox="1"/>
          <p:nvPr/>
        </p:nvSpPr>
        <p:spPr>
          <a:xfrm>
            <a:off x="4389120" y="3547872"/>
            <a:ext cx="1417320" cy="548640"/>
          </a:xfrm>
          <a:prstGeom prst="rect">
            <a:avLst/>
          </a:prstGeom>
          <a:noFill/>
          <a:ln/>
        </p:spPr>
        <p:txBody>
          <a:bodyPr wrap="square" lIns="508" tIns="508" rIns="508" bIns="508" rtlCol="0" anchor="ctr"/>
          <a:lstStyle/>
          <a:p>
            <a:pPr algn="ctr" indent="0" marL="0">
              <a:buNone/>
            </a:pPr>
            <a:r>
              <a:rPr lang="en-US" sz="1300" dirty="0">
                <a:solidFill>
                  <a:schemeClr val="tx1"/>
                </a:solidFill>
              </a:rPr>
              <a:t>Kv, Ki, K, φ</a:t>
            </a:r>
            <a:endParaRPr lang="en-US" sz="1300" dirty="0"/>
          </a:p>
        </p:txBody>
      </p:sp>
      <p:sp>
        <p:nvSpPr>
          <p:cNvPr id="37" name="text-186"/>
          <p:cNvSpPr txBox="1"/>
          <p:nvPr/>
        </p:nvSpPr>
        <p:spPr>
          <a:xfrm>
            <a:off x="4343400" y="4114800"/>
            <a:ext cx="1554480" cy="182880"/>
          </a:xfrm>
          <a:prstGeom prst="rect">
            <a:avLst/>
          </a:prstGeom>
          <a:noFill/>
          <a:ln/>
        </p:spPr>
        <p:txBody>
          <a:bodyPr wrap="square" lIns="0" tIns="0" rIns="0" bIns="0" rtlCol="0" anchor="t"/>
          <a:lstStyle/>
          <a:p>
            <a:pPr algn="ctr" indent="0" marL="0">
              <a:buNone/>
            </a:pPr>
            <a:r>
              <a:rPr lang="en-US" sz="1000" dirty="0">
                <a:solidFill>
                  <a:schemeClr val="accent6"/>
                </a:solidFill>
              </a:rPr>
              <a:t>bounded + smoothed</a:t>
            </a:r>
            <a:endParaRPr lang="en-US" sz="1000" dirty="0"/>
          </a:p>
        </p:txBody>
      </p:sp>
      <p:sp>
        <p:nvSpPr>
          <p:cNvPr id="38" name="arrow-187"/>
          <p:cNvSpPr/>
          <p:nvPr/>
        </p:nvSpPr>
        <p:spPr>
          <a:xfrm>
            <a:off x="5806440" y="3822192"/>
            <a:ext cx="365760" cy="0"/>
          </a:xfrm>
          <a:prstGeom prst="line">
            <a:avLst/>
          </a:prstGeom>
          <a:noFill/>
          <a:ln w="19050">
            <a:solidFill>
              <a:schemeClr val="accent6"/>
            </a:solidFill>
            <a:prstDash val="solid"/>
            <a:tailEnd type="triangle"/>
          </a:ln>
        </p:spPr>
      </p:sp>
      <p:sp>
        <p:nvSpPr>
          <p:cNvPr id="39" name="box-188"/>
          <p:cNvSpPr/>
          <p:nvPr/>
        </p:nvSpPr>
        <p:spPr>
          <a:xfrm>
            <a:off x="6172200" y="3547872"/>
            <a:ext cx="914400" cy="548640"/>
          </a:xfrm>
          <a:prstGeom prst="roundRect">
            <a:avLst>
              <a:gd name="adj" fmla="val 13333"/>
            </a:avLst>
          </a:prstGeom>
          <a:solidFill>
            <a:schemeClr val="bg1"/>
          </a:solidFill>
          <a:ln w="15875">
            <a:solidFill>
              <a:schemeClr val="accent6"/>
            </a:solidFill>
            <a:prstDash val="solid"/>
          </a:ln>
        </p:spPr>
      </p:sp>
      <p:sp>
        <p:nvSpPr>
          <p:cNvPr id="40" name="box-text-189"/>
          <p:cNvSpPr txBox="1"/>
          <p:nvPr/>
        </p:nvSpPr>
        <p:spPr>
          <a:xfrm>
            <a:off x="6172200" y="3547872"/>
            <a:ext cx="914400" cy="548640"/>
          </a:xfrm>
          <a:prstGeom prst="rect">
            <a:avLst/>
          </a:prstGeom>
          <a:noFill/>
          <a:ln/>
        </p:spPr>
        <p:txBody>
          <a:bodyPr wrap="square" lIns="508" tIns="508" rIns="508" bIns="508" rtlCol="0" anchor="ctr"/>
          <a:lstStyle/>
          <a:p>
            <a:pPr algn="ctr" indent="0" marL="0">
              <a:buNone/>
            </a:pPr>
            <a:r>
              <a:rPr lang="en-US" sz="1400" b="1" dirty="0">
                <a:solidFill>
                  <a:schemeClr val="tx1"/>
                </a:solidFill>
              </a:rPr>
              <a:t>SMC</a:t>
            </a:r>
            <a:endParaRPr lang="en-US" sz="1400" dirty="0"/>
          </a:p>
        </p:txBody>
      </p:sp>
      <p:sp>
        <p:nvSpPr>
          <p:cNvPr id="41" name="arrow-190"/>
          <p:cNvSpPr/>
          <p:nvPr/>
        </p:nvSpPr>
        <p:spPr>
          <a:xfrm>
            <a:off x="7086600" y="3822192"/>
            <a:ext cx="777240" cy="0"/>
          </a:xfrm>
          <a:prstGeom prst="line">
            <a:avLst/>
          </a:prstGeom>
          <a:noFill/>
          <a:ln w="19050">
            <a:solidFill>
              <a:schemeClr val="accent6"/>
            </a:solidFill>
            <a:prstDash val="solid"/>
            <a:tailEnd type="triangle"/>
          </a:ln>
        </p:spPr>
      </p:sp>
      <p:sp>
        <p:nvSpPr>
          <p:cNvPr id="42" name="text-191"/>
          <p:cNvSpPr txBox="1"/>
          <p:nvPr/>
        </p:nvSpPr>
        <p:spPr>
          <a:xfrm>
            <a:off x="7360920" y="3566160"/>
            <a:ext cx="457200" cy="228600"/>
          </a:xfrm>
          <a:prstGeom prst="rect">
            <a:avLst/>
          </a:prstGeom>
          <a:noFill/>
          <a:ln/>
        </p:spPr>
        <p:txBody>
          <a:bodyPr wrap="square" lIns="0" tIns="0" rIns="0" bIns="0" rtlCol="0" anchor="t"/>
          <a:lstStyle/>
          <a:p>
            <a:pPr algn="ctr" indent="0" marL="0">
              <a:buNone/>
            </a:pPr>
            <a:r>
              <a:rPr lang="en-US" sz="1200" dirty="0">
                <a:solidFill>
                  <a:schemeClr val="accent6"/>
                </a:solidFill>
              </a:rPr>
              <a:t>D</a:t>
            </a:r>
            <a:endParaRPr lang="en-US" sz="1200" dirty="0"/>
          </a:p>
        </p:txBody>
      </p:sp>
      <p:sp>
        <p:nvSpPr>
          <p:cNvPr id="43" name="box-192"/>
          <p:cNvSpPr/>
          <p:nvPr/>
        </p:nvSpPr>
        <p:spPr>
          <a:xfrm>
            <a:off x="7863840" y="3547872"/>
            <a:ext cx="822960" cy="548640"/>
          </a:xfrm>
          <a:prstGeom prst="roundRect">
            <a:avLst>
              <a:gd name="adj" fmla="val 13333"/>
            </a:avLst>
          </a:prstGeom>
          <a:solidFill>
            <a:schemeClr val="bg1"/>
          </a:solidFill>
          <a:ln w="15875">
            <a:solidFill>
              <a:schemeClr val="accent6"/>
            </a:solidFill>
            <a:prstDash val="solid"/>
          </a:ln>
        </p:spPr>
      </p:sp>
      <p:sp>
        <p:nvSpPr>
          <p:cNvPr id="44" name="box-text-193"/>
          <p:cNvSpPr txBox="1"/>
          <p:nvPr/>
        </p:nvSpPr>
        <p:spPr>
          <a:xfrm>
            <a:off x="7863840" y="3547872"/>
            <a:ext cx="822960" cy="548640"/>
          </a:xfrm>
          <a:prstGeom prst="rect">
            <a:avLst/>
          </a:prstGeom>
          <a:noFill/>
          <a:ln/>
        </p:spPr>
        <p:txBody>
          <a:bodyPr wrap="square" lIns="508" tIns="508" rIns="508" bIns="508" rtlCol="0" anchor="ctr"/>
          <a:lstStyle/>
          <a:p>
            <a:pPr algn="ctr" indent="0" marL="0">
              <a:buNone/>
            </a:pPr>
            <a:r>
              <a:rPr lang="en-US" sz="1100" dirty="0">
                <a:solidFill>
                  <a:schemeClr val="tx1"/>
                </a:solidFill>
              </a:rPr>
              <a:t>Converter</a:t>
            </a:r>
            <a:endParaRPr lang="en-US" sz="11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Safety by design: certified bounds</a:t>
            </a:r>
            <a:endParaRPr lang="en-US" sz="3000" dirty="0"/>
          </a:p>
        </p:txBody>
      </p:sp>
      <p:graphicFrame>
        <p:nvGraphicFramePr>
          <p:cNvPr id="4" name="Chart 0" descr=""/>
          <p:cNvGraphicFramePr/>
          <p:nvPr/>
        </p:nvGraphicFramePr>
        <p:xfrm>
          <a:off x="457200" y="109728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5" name="text-194"/>
          <p:cNvSpPr txBox="1"/>
          <p:nvPr/>
        </p:nvSpPr>
        <p:spPr>
          <a:xfrm>
            <a:off x="5806440" y="1188720"/>
            <a:ext cx="2880360" cy="32918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Certified box: Kp ×0.7–1.5, Ki ×0.7–1.05, Kd ×0.9–1.2 → 40.3° / 4.2 dB</a:t>
            </a:r>
            <a:endParaRPr lang="en-US" sz="1400" dirty="0"/>
          </a:p>
          <a:p>
            <a:pPr marL="203200" indent="-203200">
              <a:spcAft>
                <a:spcPts val="1000"/>
              </a:spcAft>
              <a:buSzPct val="100000"/>
              <a:buChar char="•"/>
            </a:pPr>
            <a:r>
              <a:rPr lang="en-US" sz="1400" dirty="0">
                <a:solidFill>
                  <a:schemeClr val="tx1"/>
                </a:solidFill>
              </a:rPr>
              <a:t>Clamp, then smooth: ≤ 5 % change per 200 µs</a:t>
            </a:r>
            <a:endParaRPr lang="en-US" sz="1400" dirty="0"/>
          </a:p>
          <a:p>
            <a:pPr marL="203200" indent="-203200">
              <a:spcAft>
                <a:spcPts val="1000"/>
              </a:spcAft>
              <a:buSzPct val="100000"/>
              <a:buChar char="•"/>
            </a:pPr>
            <a:r>
              <a:rPr lang="en-US" sz="1400" dirty="0">
                <a:solidFill>
                  <a:schemeClr val="tx1"/>
                </a:solidFill>
              </a:rPr>
              <a:t>Supervisor returns gains to baseline if error &gt; 2.5 V for 8 ms, IL &gt; 12 A, or Vout &gt; 1.15 Vref</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A reward is only as good as its test</a:t>
            </a:r>
            <a:endParaRPr lang="en-US" sz="3000" dirty="0"/>
          </a:p>
        </p:txBody>
      </p:sp>
      <p:sp>
        <p:nvSpPr>
          <p:cNvPr id="4" name="card-195"/>
          <p:cNvSpPr/>
          <p:nvPr/>
        </p:nvSpPr>
        <p:spPr>
          <a:xfrm>
            <a:off x="457200" y="1188720"/>
            <a:ext cx="4023360" cy="1828800"/>
          </a:xfrm>
          <a:prstGeom prst="roundRect">
            <a:avLst>
              <a:gd name="adj" fmla="val 5000"/>
            </a:avLst>
          </a:prstGeom>
          <a:solidFill>
            <a:schemeClr val="bg2"/>
          </a:solidFill>
          <a:ln w="15875">
            <a:solidFill>
              <a:schemeClr val="accent3"/>
            </a:solidFill>
            <a:prstDash val="solid"/>
          </a:ln>
        </p:spPr>
      </p:sp>
      <p:sp>
        <p:nvSpPr>
          <p:cNvPr id="5" name="text-196"/>
          <p:cNvSpPr txBox="1"/>
          <p:nvPr/>
        </p:nvSpPr>
        <p:spPr>
          <a:xfrm>
            <a:off x="640080" y="1280160"/>
            <a:ext cx="3657600" cy="274320"/>
          </a:xfrm>
          <a:prstGeom prst="rect">
            <a:avLst/>
          </a:prstGeom>
          <a:noFill/>
          <a:ln/>
        </p:spPr>
        <p:txBody>
          <a:bodyPr wrap="square" lIns="0" tIns="0" rIns="0" bIns="0" rtlCol="0" anchor="t"/>
          <a:lstStyle/>
          <a:p>
            <a:pPr indent="0" marL="0">
              <a:buNone/>
            </a:pPr>
            <a:r>
              <a:rPr lang="en-US" sz="1600" b="1" dirty="0">
                <a:solidFill>
                  <a:schemeClr val="accent3"/>
                </a:solidFill>
              </a:rPr>
              <a:t>Old reward</a:t>
            </a:r>
            <a:endParaRPr lang="en-US" sz="1600" dirty="0"/>
          </a:p>
        </p:txBody>
      </p:sp>
      <p:sp>
        <p:nvSpPr>
          <p:cNvPr id="6" name="text-197"/>
          <p:cNvSpPr txBox="1"/>
          <p:nvPr/>
        </p:nvSpPr>
        <p:spPr>
          <a:xfrm>
            <a:off x="640080" y="1600200"/>
            <a:ext cx="3657600" cy="548640"/>
          </a:xfrm>
          <a:prstGeom prst="rect">
            <a:avLst/>
          </a:prstGeom>
          <a:noFill/>
          <a:ln/>
        </p:spPr>
        <p:txBody>
          <a:bodyPr wrap="square" lIns="0" tIns="0" rIns="0" bIns="0" rtlCol="0" anchor="t"/>
          <a:lstStyle/>
          <a:p>
            <a:pPr indent="0" marL="0">
              <a:buNone/>
            </a:pPr>
            <a:r>
              <a:rPr lang="en-US" sz="3200" b="1" dirty="0">
                <a:solidFill>
                  <a:schemeClr val="accent3"/>
                </a:solidFill>
              </a:rPr>
              <a:t>+38.0 vs +26.5</a:t>
            </a:r>
            <a:endParaRPr lang="en-US" sz="3200" dirty="0"/>
          </a:p>
        </p:txBody>
      </p:sp>
      <p:sp>
        <p:nvSpPr>
          <p:cNvPr id="7" name="text-198"/>
          <p:cNvSpPr txBox="1"/>
          <p:nvPr/>
        </p:nvSpPr>
        <p:spPr>
          <a:xfrm>
            <a:off x="640080" y="2286000"/>
            <a:ext cx="3657600" cy="640080"/>
          </a:xfrm>
          <a:prstGeom prst="rect">
            <a:avLst/>
          </a:prstGeom>
          <a:noFill/>
          <a:ln/>
        </p:spPr>
        <p:txBody>
          <a:bodyPr wrap="square" lIns="0" tIns="0" rIns="0" bIns="0" rtlCol="0" anchor="t"/>
          <a:lstStyle/>
          <a:p>
            <a:pPr indent="0" marL="0">
              <a:buNone/>
            </a:pPr>
            <a:r>
              <a:rPr lang="en-US" sz="1400" dirty="0">
                <a:solidFill>
                  <a:schemeClr val="tx1"/>
                </a:solidFill>
              </a:rPr>
              <a:t>a weak 5,000-step policy scored above the PID</a:t>
            </a:r>
            <a:endParaRPr lang="en-US" sz="1400" dirty="0"/>
          </a:p>
        </p:txBody>
      </p:sp>
      <p:sp>
        <p:nvSpPr>
          <p:cNvPr id="8" name="card-199"/>
          <p:cNvSpPr/>
          <p:nvPr/>
        </p:nvSpPr>
        <p:spPr>
          <a:xfrm>
            <a:off x="4663440" y="1188720"/>
            <a:ext cx="4023360" cy="1828800"/>
          </a:xfrm>
          <a:prstGeom prst="roundRect">
            <a:avLst>
              <a:gd name="adj" fmla="val 5000"/>
            </a:avLst>
          </a:prstGeom>
          <a:solidFill>
            <a:schemeClr val="bg2"/>
          </a:solidFill>
          <a:ln w="15875">
            <a:solidFill>
              <a:schemeClr val="accent1"/>
            </a:solidFill>
            <a:prstDash val="solid"/>
          </a:ln>
        </p:spPr>
      </p:sp>
      <p:sp>
        <p:nvSpPr>
          <p:cNvPr id="9" name="text-200"/>
          <p:cNvSpPr txBox="1"/>
          <p:nvPr/>
        </p:nvSpPr>
        <p:spPr>
          <a:xfrm>
            <a:off x="4846320" y="1280160"/>
            <a:ext cx="3657600" cy="274320"/>
          </a:xfrm>
          <a:prstGeom prst="rect">
            <a:avLst/>
          </a:prstGeom>
          <a:noFill/>
          <a:ln/>
        </p:spPr>
        <p:txBody>
          <a:bodyPr wrap="square" lIns="0" tIns="0" rIns="0" bIns="0" rtlCol="0" anchor="t"/>
          <a:lstStyle/>
          <a:p>
            <a:pPr indent="0" marL="0">
              <a:buNone/>
            </a:pPr>
            <a:r>
              <a:rPr lang="en-US" sz="1600" b="1" dirty="0">
                <a:solidFill>
                  <a:schemeClr val="accent1"/>
                </a:solidFill>
              </a:rPr>
              <a:t>Redesigned reward</a:t>
            </a:r>
            <a:endParaRPr lang="en-US" sz="1600" dirty="0"/>
          </a:p>
        </p:txBody>
      </p:sp>
      <p:sp>
        <p:nvSpPr>
          <p:cNvPr id="10" name="text-201"/>
          <p:cNvSpPr txBox="1"/>
          <p:nvPr/>
        </p:nvSpPr>
        <p:spPr>
          <a:xfrm>
            <a:off x="4846320" y="1600200"/>
            <a:ext cx="3657600" cy="548640"/>
          </a:xfrm>
          <a:prstGeom prst="rect">
            <a:avLst/>
          </a:prstGeom>
          <a:noFill/>
          <a:ln/>
        </p:spPr>
        <p:txBody>
          <a:bodyPr wrap="square" lIns="0" tIns="0" rIns="0" bIns="0" rtlCol="0" anchor="t"/>
          <a:lstStyle/>
          <a:p>
            <a:pPr indent="0" marL="0">
              <a:buNone/>
            </a:pPr>
            <a:r>
              <a:rPr lang="en-US" sz="3200" b="1" dirty="0">
                <a:solidFill>
                  <a:schemeClr val="accent1"/>
                </a:solidFill>
              </a:rPr>
              <a:t>+499.7 vs +431.7</a:t>
            </a:r>
            <a:endParaRPr lang="en-US" sz="3200" dirty="0"/>
          </a:p>
        </p:txBody>
      </p:sp>
      <p:sp>
        <p:nvSpPr>
          <p:cNvPr id="11" name="text-202"/>
          <p:cNvSpPr txBox="1"/>
          <p:nvPr/>
        </p:nvSpPr>
        <p:spPr>
          <a:xfrm>
            <a:off x="4846320" y="2286000"/>
            <a:ext cx="3657600" cy="640080"/>
          </a:xfrm>
          <a:prstGeom prst="rect">
            <a:avLst/>
          </a:prstGeom>
          <a:noFill/>
          <a:ln/>
        </p:spPr>
        <p:txBody>
          <a:bodyPr wrap="square" lIns="0" tIns="0" rIns="0" bIns="0" rtlCol="0" anchor="t"/>
          <a:lstStyle/>
          <a:p>
            <a:pPr indent="0" marL="0">
              <a:buNone/>
            </a:pPr>
            <a:r>
              <a:rPr lang="en-US" sz="1400" dirty="0">
                <a:solidFill>
                  <a:schemeClr val="tx1"/>
                </a:solidFill>
              </a:rPr>
              <a:t>PID first, the same policy second, random last (+51.9)</a:t>
            </a:r>
            <a:endParaRPr lang="en-US" sz="1400" dirty="0"/>
          </a:p>
        </p:txBody>
      </p:sp>
      <p:sp>
        <p:nvSpPr>
          <p:cNvPr id="12" name="text-203"/>
          <p:cNvSpPr txBox="1"/>
          <p:nvPr/>
        </p:nvSpPr>
        <p:spPr>
          <a:xfrm>
            <a:off x="457200" y="3291840"/>
            <a:ext cx="8229600" cy="12801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Linear tracking cost made small offsets almost free</a:t>
            </a:r>
            <a:endParaRPr lang="en-US" sz="1400" dirty="0"/>
          </a:p>
          <a:p>
            <a:pPr marL="203200" indent="-203200">
              <a:spcAft>
                <a:spcPts val="600"/>
              </a:spcAft>
              <a:buSzPct val="100000"/>
              <a:buChar char="•"/>
            </a:pPr>
            <a:r>
              <a:rPr lang="en-US" sz="1400" dirty="0">
                <a:solidFill>
                  <a:schemeClr val="tx1"/>
                </a:solidFill>
              </a:rPr>
              <a:t>Duty smoothness cost was almost zero for visible jitter</a:t>
            </a:r>
            <a:endParaRPr lang="en-US" sz="1400" dirty="0"/>
          </a:p>
          <a:p>
            <a:pPr marL="203200" indent="-203200">
              <a:spcAft>
                <a:spcPts val="600"/>
              </a:spcAft>
              <a:buSzPct val="100000"/>
              <a:buChar char="•"/>
            </a:pPr>
            <a:r>
              <a:rPr lang="en-US" sz="1400" dirty="0">
                <a:solidFill>
                  <a:schemeClr val="tx1"/>
                </a:solidFill>
              </a:rPr>
              <a:t>A one-off trip cost less than surviving a bad episode</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Final study: key metrics (3 seeds)</a:t>
            </a:r>
            <a:endParaRPr lang="en-US" sz="3000" dirty="0"/>
          </a:p>
        </p:txBody>
      </p:sp>
      <p:graphicFrame>
        <p:nvGraphicFramePr>
          <p:cNvPr id="15" name="final-metrics-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103120"/>
                <a:gridCol w="1005840"/>
                <a:gridCol w="1005840"/>
                <a:gridCol w="1371600"/>
                <a:gridCol w="1371600"/>
                <a:gridCol w="1371600"/>
              </a:tblGrid>
              <a:tr h="384048">
                <a:tc>
                  <a:txBody>
                    <a:bodyPr/>
                    <a:lstStyle/>
                    <a:p>
                      <a:pPr algn="l" indent="0" marL="0">
                        <a:buNone/>
                      </a:pPr>
                      <a:r>
                        <a:rPr lang="en-US" sz="1200" b="1" dirty="0">
                          <a:solidFill>
                            <a:srgbClr val="FFFFFF"/>
                          </a:solidFill>
                        </a:rPr>
                        <a:t>Metric (nominal)</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F3B4C"/>
                    </a:solidFill>
                  </a:tcPr>
                </a:tc>
                <a:tc>
                  <a:txBody>
                    <a:bodyPr/>
                    <a:lstStyle/>
                    <a:p>
                      <a:pPr algn="ctr" indent="0" marL="0">
                        <a:buNone/>
                      </a:pPr>
                      <a:r>
                        <a:rPr lang="en-US" sz="1200" b="1" dirty="0">
                          <a:solidFill>
                            <a:srgbClr val="FFFFFF"/>
                          </a:solidFill>
                        </a:rPr>
                        <a:t>Fixed PID</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F3B4C"/>
                    </a:solidFill>
                  </a:tcPr>
                </a:tc>
                <a:tc>
                  <a:txBody>
                    <a:bodyPr/>
                    <a:lstStyle/>
                    <a:p>
                      <a:pPr algn="ctr" indent="0" marL="0">
                        <a:buNone/>
                      </a:pPr>
                      <a:r>
                        <a:rPr lang="en-US" sz="1200" b="1" dirty="0">
                          <a:solidFill>
                            <a:srgbClr val="FFFFFF"/>
                          </a:solidFill>
                        </a:rPr>
                        <a:t>Fixed SMC</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F3B4C"/>
                    </a:solidFill>
                  </a:tcPr>
                </a:tc>
                <a:tc>
                  <a:txBody>
                    <a:bodyPr/>
                    <a:lstStyle/>
                    <a:p>
                      <a:pPr algn="ctr" indent="0" marL="0">
                        <a:buNone/>
                      </a:pPr>
                      <a:r>
                        <a:rPr lang="en-US" sz="1200" b="1" dirty="0">
                          <a:solidFill>
                            <a:srgbClr val="FFFFFF"/>
                          </a:solidFill>
                        </a:rPr>
                        <a:t>Direct TD3</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F3B4C"/>
                    </a:solidFill>
                  </a:tcPr>
                </a:tc>
                <a:tc>
                  <a:txBody>
                    <a:bodyPr/>
                    <a:lstStyle/>
                    <a:p>
                      <a:pPr algn="ctr" indent="0" marL="0">
                        <a:buNone/>
                      </a:pPr>
                      <a:r>
                        <a:rPr lang="en-US" sz="1200" b="1" dirty="0">
                          <a:solidFill>
                            <a:srgbClr val="FFFFFF"/>
                          </a:solidFill>
                        </a:rPr>
                        <a:t>Adaptive PID</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F3B4C"/>
                    </a:solidFill>
                  </a:tcPr>
                </a:tc>
                <a:tc>
                  <a:txBody>
                    <a:bodyPr/>
                    <a:lstStyle/>
                    <a:p>
                      <a:pPr algn="ctr" indent="0" marL="0">
                        <a:buNone/>
                      </a:pPr>
                      <a:r>
                        <a:rPr lang="en-US" sz="1200" b="1" dirty="0">
                          <a:solidFill>
                            <a:srgbClr val="FFFFFF"/>
                          </a:solidFill>
                        </a:rPr>
                        <a:t>Adaptive SMC</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F3B4C"/>
                    </a:solidFill>
                  </a:tcPr>
                </a:tc>
              </a:tr>
              <a:tr h="384048">
                <a:tc>
                  <a:txBody>
                    <a:bodyPr/>
                    <a:lstStyle/>
                    <a:p>
                      <a:pPr algn="l" indent="0" marL="0">
                        <a:buNone/>
                      </a:pPr>
                      <a:r>
                        <a:rPr lang="en-US" sz="1200" b="1" dirty="0">
                          <a:solidFill>
                            <a:srgbClr val="14232B"/>
                          </a:solidFill>
                        </a:rPr>
                        <a:t>Settling time (ms)</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11.5</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2.9</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11.2 ± 14</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12.1 ± 2.1</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5.1 ± 1.9</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4232B"/>
                          </a:solidFill>
                        </a:rPr>
                        <a:t>Overshoot (%)</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 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2.62</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3.31 ± 0.07</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 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3.41 ± 0.38</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84048">
                <a:tc>
                  <a:txBody>
                    <a:bodyPr/>
                    <a:lstStyle/>
                    <a:p>
                      <a:pPr algn="l" indent="0" marL="0">
                        <a:buNone/>
                      </a:pPr>
                      <a:r>
                        <a:rPr lang="en-US" sz="1200" b="1" dirty="0">
                          <a:solidFill>
                            <a:srgbClr val="14232B"/>
                          </a:solidFill>
                        </a:rPr>
                        <a:t>Startup dip (V)</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5.40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2.07</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2.23 ± 0.21</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5.13 ± 0.06</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2.00 ± 0.02</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4232B"/>
                          </a:solidFill>
                        </a:rPr>
                        <a:t>RMSE (V)</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1.375</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1.256</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1.264 ± 0.011</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1.365 ± 0.007</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1.259 ± 0.001</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84048">
                <a:tc>
                  <a:txBody>
                    <a:bodyPr/>
                    <a:lstStyle/>
                    <a:p>
                      <a:pPr algn="l" indent="0" marL="0">
                        <a:buNone/>
                      </a:pPr>
                      <a:r>
                        <a:rPr lang="en-US" sz="1200" b="1" dirty="0">
                          <a:solidFill>
                            <a:srgbClr val="14232B"/>
                          </a:solidFill>
                        </a:rPr>
                        <a:t>Duty variation (×10⁻⁴)</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1.0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1.5</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38</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1.1</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1.7</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4232B"/>
                          </a:solidFill>
                        </a:rPr>
                        <a:t>Peak IL (A)</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8.89</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9.12</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8.95</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8.88</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c>
                  <a:txBody>
                    <a:bodyPr/>
                    <a:lstStyle/>
                    <a:p>
                      <a:pPr algn="ctr" indent="0" marL="0">
                        <a:buNone/>
                      </a:pPr>
                      <a:r>
                        <a:rPr lang="en-US" sz="1200" dirty="0">
                          <a:solidFill>
                            <a:srgbClr val="14232B"/>
                          </a:solidFill>
                        </a:rPr>
                        <a:t>9.25</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1F3"/>
                    </a:solidFill>
                  </a:tcPr>
                </a:tc>
              </a:tr>
              <a:tr h="384048">
                <a:tc>
                  <a:txBody>
                    <a:bodyPr/>
                    <a:lstStyle/>
                    <a:p>
                      <a:pPr algn="l" indent="0" marL="0">
                        <a:buNone/>
                      </a:pPr>
                      <a:r>
                        <a:rPr lang="en-US" sz="1200" b="1" dirty="0">
                          <a:solidFill>
                            <a:srgbClr val="14232B"/>
                          </a:solidFill>
                        </a:rPr>
                        <a:t>Protection trips</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32B"/>
                          </a:solidFill>
                        </a:rPr>
                        <a:t>0</a:t>
                      </a:r>
                      <a:endParaRPr lang="en-US" sz="1200" dirty="0"/>
                    </a:p>
                  </a:txBody>
                  <a:tcPr marL="54864" marR="54864" marT="0" marB="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bl>
          </a:graphicData>
        </a:graphic>
      </p:graphicFrame>
      <p:sp>
        <p:nvSpPr>
          <p:cNvPr id="5" name="text-204"/>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200" dirty="0">
                <a:solidFill>
                  <a:schemeClr val="accent6"/>
                </a:solidFill>
              </a:rPr>
              <a:t>RL columns: mean ± sample std over seeds 0, 1, 2 (200,000 steps each). Zero protection trips in all 55 evaluation runs. No ranking is computed.</a:t>
            </a:r>
            <a:endParaRPr lang="en-US" sz="12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Disturbance response, all five controllers</a:t>
            </a:r>
            <a:endParaRPr lang="en-US" sz="3000" dirty="0"/>
          </a:p>
        </p:txBody>
      </p:sp>
      <p:pic>
        <p:nvPicPr>
          <p:cNvPr id="4" name="figure-205" descr="Maximum deviation and recovery time after each disturbance for all five controllers">    </p:cNvPr>
          <p:cNvPicPr>
            <a:picLocks noChangeAspect="1"/>
          </p:cNvPicPr>
          <p:nvPr/>
        </p:nvPicPr>
        <p:blipFill>
          <a:blip r:embed="rId1"/>
          <a:stretch>
            <a:fillRect/>
          </a:stretch>
        </p:blipFill>
        <p:spPr>
          <a:xfrm>
            <a:off x="457200" y="1097280"/>
            <a:ext cx="8229600" cy="2789695"/>
          </a:xfrm>
          <a:prstGeom prst="rect">
            <a:avLst/>
          </a:prstGeom>
        </p:spPr>
      </p:pic>
      <p:sp>
        <p:nvSpPr>
          <p:cNvPr id="5" name="text-206"/>
          <p:cNvSpPr txBox="1"/>
          <p:nvPr/>
        </p:nvSpPr>
        <p:spPr>
          <a:xfrm>
            <a:off x="457200" y="3931920"/>
            <a:ext cx="8229600" cy="274320"/>
          </a:xfrm>
          <a:prstGeom prst="rect">
            <a:avLst/>
          </a:prstGeom>
          <a:noFill/>
          <a:ln/>
        </p:spPr>
        <p:txBody>
          <a:bodyPr wrap="square" lIns="0" tIns="0" rIns="0" bIns="0" rtlCol="0" anchor="t"/>
          <a:lstStyle/>
          <a:p>
            <a:pPr indent="0" marL="0">
              <a:buNone/>
            </a:pPr>
            <a:r>
              <a:rPr lang="en-US" sz="1100" dirty="0">
                <a:solidFill>
                  <a:schemeClr val="accent6"/>
                </a:solidFill>
              </a:rPr>
              <a:t>Bars: mean over seeds for the RL controllers; whiskers: min–max across seeds; hatched: never recovered within the run.</a:t>
            </a:r>
            <a:endParaRPr lang="en-US" sz="1100" dirty="0"/>
          </a:p>
        </p:txBody>
      </p:sp>
      <p:sp>
        <p:nvSpPr>
          <p:cNvPr id="6" name="text-207"/>
          <p:cNvSpPr txBox="1"/>
          <p:nvPr/>
        </p:nvSpPr>
        <p:spPr>
          <a:xfrm>
            <a:off x="457200" y="4160520"/>
            <a:ext cx="8229600" cy="594360"/>
          </a:xfrm>
          <a:prstGeom prst="rect">
            <a:avLst/>
          </a:prstGeom>
          <a:noFill/>
          <a:ln/>
        </p:spPr>
        <p:txBody>
          <a:bodyPr wrap="square" lIns="0" tIns="0" rIns="0" bIns="0" rtlCol="0" anchor="t"/>
          <a:lstStyle/>
          <a:p>
            <a:pPr indent="0" marL="0">
              <a:buNone/>
            </a:pPr>
            <a:r>
              <a:rPr lang="en-US" sz="1400" dirty="0">
                <a:solidFill>
                  <a:schemeClr val="tx1"/>
                </a:solidFill>
              </a:rPr>
              <a:t>Direct TD3 has the smallest mean peak deviation in all four cases (R 20→10 Ω: within the seed spread), but one seed never recovers after that step. Adaptive controllers track their baselines within a few %.</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Waveforms: startup and disturbances</a:t>
            </a:r>
            <a:endParaRPr lang="en-US" sz="3000" dirty="0"/>
          </a:p>
        </p:txBody>
      </p:sp>
      <p:pic>
        <p:nvPicPr>
          <p:cNvPr id="4" name="figure-208" descr="Output voltage for all five controllers: startup (top) and around the disturbance (bottom)">    </p:cNvPr>
          <p:cNvPicPr>
            <a:picLocks noChangeAspect="1"/>
          </p:cNvPicPr>
          <p:nvPr/>
        </p:nvPicPr>
        <p:blipFill>
          <a:blip r:embed="rId1"/>
          <a:stretch>
            <a:fillRect/>
          </a:stretch>
        </p:blipFill>
        <p:spPr>
          <a:xfrm>
            <a:off x="457200" y="1051560"/>
            <a:ext cx="8229600" cy="2547864"/>
          </a:xfrm>
          <a:prstGeom prst="rect">
            <a:avLst/>
          </a:prstGeom>
        </p:spPr>
      </p:pic>
      <p:sp>
        <p:nvSpPr>
          <p:cNvPr id="5" name="text-209"/>
          <p:cNvSpPr txBox="1"/>
          <p:nvPr/>
        </p:nvSpPr>
        <p:spPr>
          <a:xfrm>
            <a:off x="457200" y="4069080"/>
            <a:ext cx="8229600" cy="6858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Every controller reaches 24 V; the PID variants dip to ≈ 18.6 V first (diode pre-charge surge)</a:t>
            </a:r>
            <a:endParaRPr lang="en-US" sz="1400" dirty="0"/>
          </a:p>
          <a:p>
            <a:pPr marL="203200" indent="-203200">
              <a:spcAft>
                <a:spcPts val="400"/>
              </a:spcAft>
              <a:buSzPct val="100000"/>
              <a:buChar char="•"/>
            </a:pPr>
            <a:r>
              <a:rPr lang="en-US" sz="1400" dirty="0">
                <a:solidFill>
                  <a:schemeClr val="tx1"/>
                </a:solidFill>
              </a:rPr>
              <a:t>SMC variants and direct TD3 hold the output tighter after the steps</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What the adaptive PID learned</a:t>
            </a:r>
            <a:endParaRPr lang="en-US" sz="3000" dirty="0"/>
          </a:p>
        </p:txBody>
      </p:sp>
      <p:pic>
        <p:nvPicPr>
          <p:cNvPr id="4" name="figure-210" descr="Adaptive PID gain trajectories for three seeds in each scenario">    </p:cNvPr>
          <p:cNvPicPr>
            <a:picLocks noChangeAspect="1"/>
          </p:cNvPicPr>
          <p:nvPr/>
        </p:nvPicPr>
        <p:blipFill>
          <a:blip r:embed="rId1"/>
          <a:stretch>
            <a:fillRect/>
          </a:stretch>
        </p:blipFill>
        <p:spPr>
          <a:xfrm>
            <a:off x="457200" y="1097280"/>
            <a:ext cx="5852160" cy="2286000"/>
          </a:xfrm>
          <a:prstGeom prst="rect">
            <a:avLst/>
          </a:prstGeom>
        </p:spPr>
      </p:pic>
      <p:sp>
        <p:nvSpPr>
          <p:cNvPr id="5" name="text-211"/>
          <p:cNvSpPr txBox="1"/>
          <p:nvPr/>
        </p:nvSpPr>
        <p:spPr>
          <a:xfrm>
            <a:off x="6492240" y="1188720"/>
            <a:ext cx="2194560" cy="32918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Gains react to each disturbance</a:t>
            </a:r>
            <a:endParaRPr lang="en-US" sz="1400" dirty="0"/>
          </a:p>
          <a:p>
            <a:pPr marL="203200" indent="-203200">
              <a:spcAft>
                <a:spcPts val="800"/>
              </a:spcAft>
              <a:buSzPct val="100000"/>
              <a:buChar char="•"/>
            </a:pPr>
            <a:r>
              <a:rPr lang="en-US" sz="1400" dirty="0">
                <a:solidFill>
                  <a:schemeClr val="tx1"/>
                </a:solidFill>
              </a:rPr>
              <a:t>Each seed learns a different policy</a:t>
            </a:r>
            <a:endParaRPr lang="en-US" sz="1400" dirty="0"/>
          </a:p>
          <a:p>
            <a:pPr marL="203200" indent="-203200">
              <a:spcAft>
                <a:spcPts val="800"/>
              </a:spcAft>
              <a:buSzPct val="100000"/>
              <a:buChar char="•"/>
            </a:pPr>
            <a:r>
              <a:rPr lang="en-US" sz="1400" dirty="0">
                <a:solidFill>
                  <a:schemeClr val="tx1"/>
                </a:solidFill>
              </a:rPr>
              <a:t>One seed oscillates after Vin 12→10 V, inside its bounds</a:t>
            </a:r>
            <a:endParaRPr lang="en-US" sz="1400" dirty="0"/>
          </a:p>
          <a:p>
            <a:pPr marL="203200" indent="-203200">
              <a:spcAft>
                <a:spcPts val="800"/>
              </a:spcAft>
              <a:buSzPct val="100000"/>
              <a:buChar char="•"/>
            </a:pPr>
            <a:r>
              <a:rPr lang="en-US" sz="1400" dirty="0">
                <a:solidFill>
                  <a:schemeClr val="tx1"/>
                </a:solidFill>
              </a:rPr>
              <a:t>Supervisor: engaged once per run, at startup only</a:t>
            </a:r>
            <a:endParaRPr lang="en-US" sz="1400" dirty="0"/>
          </a:p>
        </p:txBody>
      </p:sp>
      <p:sp>
        <p:nvSpPr>
          <p:cNvPr id="6" name="text-212"/>
          <p:cNvSpPr txBox="1"/>
          <p:nvPr/>
        </p:nvSpPr>
        <p:spPr>
          <a:xfrm>
            <a:off x="457200" y="3474720"/>
            <a:ext cx="5852160" cy="228600"/>
          </a:xfrm>
          <a:prstGeom prst="rect">
            <a:avLst/>
          </a:prstGeom>
          <a:noFill/>
          <a:ln/>
        </p:spPr>
        <p:txBody>
          <a:bodyPr wrap="square" lIns="0" tIns="0" rIns="0" bIns="0" rtlCol="0" anchor="t"/>
          <a:lstStyle/>
          <a:p>
            <a:pPr indent="0" marL="0">
              <a:buNone/>
            </a:pPr>
            <a:r>
              <a:rPr lang="en-US" sz="1100" dirty="0">
                <a:solidFill>
                  <a:schemeClr val="accent6"/>
                </a:solidFill>
              </a:rPr>
              <a:t>Red dotted lines: certified gain limits. Dashed black: baseline gain.</a:t>
            </a:r>
            <a:endParaRPr lang="en-US" sz="1100" dirty="0"/>
          </a:p>
        </p:txBody>
      </p:sp>
      <p:sp>
        <p:nvSpPr>
          <p:cNvPr id="7" name="card-213"/>
          <p:cNvSpPr/>
          <p:nvPr/>
        </p:nvSpPr>
        <p:spPr>
          <a:xfrm>
            <a:off x="457200" y="3840480"/>
            <a:ext cx="5852160" cy="731520"/>
          </a:xfrm>
          <a:prstGeom prst="roundRect">
            <a:avLst>
              <a:gd name="adj" fmla="val 12500"/>
            </a:avLst>
          </a:prstGeom>
          <a:solidFill>
            <a:schemeClr val="bg2"/>
          </a:solidFill>
          <a:ln/>
        </p:spPr>
      </p:sp>
      <p:sp>
        <p:nvSpPr>
          <p:cNvPr id="8" name="text-214"/>
          <p:cNvSpPr txBox="1"/>
          <p:nvPr/>
        </p:nvSpPr>
        <p:spPr>
          <a:xfrm>
            <a:off x="640080" y="3913632"/>
            <a:ext cx="548640" cy="548640"/>
          </a:xfrm>
          <a:prstGeom prst="rect">
            <a:avLst/>
          </a:prstGeom>
          <a:noFill/>
          <a:ln/>
        </p:spPr>
        <p:txBody>
          <a:bodyPr wrap="square" lIns="0" tIns="0" rIns="0" bIns="0" rtlCol="0" anchor="t"/>
          <a:lstStyle/>
          <a:p>
            <a:pPr indent="0" marL="0">
              <a:buNone/>
            </a:pPr>
            <a:r>
              <a:rPr lang="en-US" sz="3200" b="1" dirty="0">
                <a:solidFill>
                  <a:schemeClr val="accent1"/>
                </a:solidFill>
              </a:rPr>
              <a:t>0</a:t>
            </a:r>
            <a:endParaRPr lang="en-US" sz="3200" dirty="0"/>
          </a:p>
        </p:txBody>
      </p:sp>
      <p:sp>
        <p:nvSpPr>
          <p:cNvPr id="9" name="text-215"/>
          <p:cNvSpPr txBox="1"/>
          <p:nvPr/>
        </p:nvSpPr>
        <p:spPr>
          <a:xfrm>
            <a:off x="1234440" y="3950208"/>
            <a:ext cx="4937760" cy="548640"/>
          </a:xfrm>
          <a:prstGeom prst="rect">
            <a:avLst/>
          </a:prstGeom>
          <a:noFill/>
          <a:ln/>
        </p:spPr>
        <p:txBody>
          <a:bodyPr wrap="square" lIns="0" tIns="0" rIns="0" bIns="0" rtlCol="0" anchor="t"/>
          <a:lstStyle/>
          <a:p>
            <a:pPr indent="0" marL="0">
              <a:buNone/>
            </a:pPr>
            <a:r>
              <a:rPr lang="en-US" sz="1400" dirty="0">
                <a:solidFill>
                  <a:schemeClr val="tx1"/>
                </a:solidFill>
              </a:rPr>
              <a:t>protection trips; gains and SMC parameters never left their certified bounds</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What the results show — and what they don’t</a:t>
            </a:r>
            <a:endParaRPr lang="en-US" sz="3000" dirty="0"/>
          </a:p>
        </p:txBody>
      </p:sp>
      <p:sp>
        <p:nvSpPr>
          <p:cNvPr id="4" name="card-216"/>
          <p:cNvSpPr/>
          <p:nvPr/>
        </p:nvSpPr>
        <p:spPr>
          <a:xfrm>
            <a:off x="457200" y="1143000"/>
            <a:ext cx="4023360" cy="3429000"/>
          </a:xfrm>
          <a:prstGeom prst="roundRect">
            <a:avLst>
              <a:gd name="adj" fmla="val 2667"/>
            </a:avLst>
          </a:prstGeom>
          <a:solidFill>
            <a:schemeClr val="bg2"/>
          </a:solidFill>
          <a:ln/>
        </p:spPr>
      </p:sp>
      <p:sp>
        <p:nvSpPr>
          <p:cNvPr id="5" name="text-217"/>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Shown (3 seeds, 200k steps)</a:t>
            </a:r>
            <a:endParaRPr lang="en-US" sz="1600" dirty="0"/>
          </a:p>
        </p:txBody>
      </p:sp>
      <p:sp>
        <p:nvSpPr>
          <p:cNvPr id="6" name="text-218"/>
          <p:cNvSpPr txBox="1"/>
          <p:nvPr/>
        </p:nvSpPr>
        <p:spPr>
          <a:xfrm>
            <a:off x="640080" y="1645920"/>
            <a:ext cx="3657600" cy="28346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No controller is best on every metric</a:t>
            </a:r>
            <a:endParaRPr lang="en-US" sz="1400" dirty="0"/>
          </a:p>
          <a:p>
            <a:pPr marL="203200" indent="-203200">
              <a:spcAft>
                <a:spcPts val="800"/>
              </a:spcAft>
              <a:buSzPct val="100000"/>
              <a:buChar char="•"/>
            </a:pPr>
            <a:r>
              <a:rPr lang="en-US" sz="1400" dirty="0">
                <a:solidFill>
                  <a:schemeClr val="tx1"/>
                </a:solidFill>
              </a:rPr>
              <a:t>Direct TD3 regulates tightly but moves the duty 25–70× more and varies widely across seeds</a:t>
            </a:r>
            <a:endParaRPr lang="en-US" sz="1400" dirty="0"/>
          </a:p>
          <a:p>
            <a:pPr marL="203200" indent="-203200">
              <a:spcAft>
                <a:spcPts val="800"/>
              </a:spcAft>
              <a:buSzPct val="100000"/>
              <a:buChar char="•"/>
            </a:pPr>
            <a:r>
              <a:rPr lang="en-US" sz="1400" dirty="0">
                <a:solidFill>
                  <a:schemeClr val="tx1"/>
                </a:solidFill>
              </a:rPr>
              <a:t>Adaptive controllers stay within a few % of their baselines</a:t>
            </a:r>
            <a:endParaRPr lang="en-US" sz="1400" dirty="0"/>
          </a:p>
          <a:p>
            <a:pPr marL="203200" indent="-203200">
              <a:spcAft>
                <a:spcPts val="800"/>
              </a:spcAft>
              <a:buSzPct val="100000"/>
              <a:buChar char="•"/>
            </a:pPr>
            <a:r>
              <a:rPr lang="en-US" sz="1400" dirty="0">
                <a:solidFill>
                  <a:schemeClr val="tx1"/>
                </a:solidFill>
              </a:rPr>
              <a:t>0 protection trips in all 55 evaluation runs</a:t>
            </a:r>
            <a:endParaRPr lang="en-US" sz="1400" dirty="0"/>
          </a:p>
        </p:txBody>
      </p:sp>
      <p:sp>
        <p:nvSpPr>
          <p:cNvPr id="7" name="card-219"/>
          <p:cNvSpPr/>
          <p:nvPr/>
        </p:nvSpPr>
        <p:spPr>
          <a:xfrm>
            <a:off x="4663440" y="1143000"/>
            <a:ext cx="4023360" cy="3429000"/>
          </a:xfrm>
          <a:prstGeom prst="roundRect">
            <a:avLst>
              <a:gd name="adj" fmla="val 2667"/>
            </a:avLst>
          </a:prstGeom>
          <a:solidFill>
            <a:schemeClr val="bg2"/>
          </a:solidFill>
          <a:ln/>
        </p:spPr>
      </p:sp>
      <p:sp>
        <p:nvSpPr>
          <p:cNvPr id="8" name="text-220"/>
          <p:cNvSpPr txBox="1"/>
          <p:nvPr/>
        </p:nvSpPr>
        <p:spPr>
          <a:xfrm>
            <a:off x="4846320" y="123444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Not shown</a:t>
            </a:r>
            <a:endParaRPr lang="en-US" sz="1600" dirty="0"/>
          </a:p>
        </p:txBody>
      </p:sp>
      <p:sp>
        <p:nvSpPr>
          <p:cNvPr id="9" name="text-221"/>
          <p:cNvSpPr txBox="1"/>
          <p:nvPr/>
        </p:nvSpPr>
        <p:spPr>
          <a:xfrm>
            <a:off x="4846320" y="1645920"/>
            <a:ext cx="3657600" cy="28346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A winner: three seeds, one configuration</a:t>
            </a:r>
            <a:endParaRPr lang="en-US" sz="1400" dirty="0"/>
          </a:p>
          <a:p>
            <a:pPr marL="203200" indent="-203200">
              <a:spcAft>
                <a:spcPts val="800"/>
              </a:spcAft>
              <a:buSzPct val="100000"/>
              <a:buChar char="•"/>
            </a:pPr>
            <a:r>
              <a:rPr lang="en-US" sz="1400" dirty="0">
                <a:solidFill>
                  <a:schemeClr val="tx1"/>
                </a:solidFill>
              </a:rPr>
              <a:t>Hardware behaviour: ideal averaged model (no ESR, diode drop, ripple)</a:t>
            </a:r>
            <a:endParaRPr lang="en-US" sz="1400" dirty="0"/>
          </a:p>
          <a:p>
            <a:pPr marL="203200" indent="-203200">
              <a:spcAft>
                <a:spcPts val="800"/>
              </a:spcAft>
              <a:buSzPct val="100000"/>
              <a:buChar char="•"/>
            </a:pPr>
            <a:r>
              <a:rPr lang="en-US" sz="1400" dirty="0">
                <a:solidFill>
                  <a:schemeClr val="tx1"/>
                </a:solidFill>
              </a:rPr>
              <a:t>Stability proofs beyond the tested grids</a:t>
            </a:r>
            <a:endParaRPr lang="en-US" sz="1400" dirty="0"/>
          </a:p>
          <a:p>
            <a:pPr marL="203200" indent="-203200">
              <a:spcAft>
                <a:spcPts val="800"/>
              </a:spcAft>
              <a:buSzPct val="100000"/>
              <a:buChar char="•"/>
            </a:pPr>
            <a:r>
              <a:rPr lang="en-US" sz="1400" dirty="0">
                <a:solidFill>
                  <a:schemeClr val="tx1"/>
                </a:solidFill>
              </a:rPr>
              <a:t>SMC vs PID is not like for like (current sensing)</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bg1"/>
                </a:solidFill>
              </a:rPr>
              <a:t>Conclusions and next steps</a:t>
            </a:r>
            <a:endParaRPr lang="en-US" sz="3200" dirty="0"/>
          </a:p>
        </p:txBody>
      </p:sp>
      <p:sp>
        <p:nvSpPr>
          <p:cNvPr id="4" name="text-222"/>
          <p:cNvSpPr txBox="1"/>
          <p:nvPr/>
        </p:nvSpPr>
        <p:spPr>
          <a:xfrm>
            <a:off x="548640" y="1280160"/>
            <a:ext cx="3840480" cy="320040"/>
          </a:xfrm>
          <a:prstGeom prst="rect">
            <a:avLst/>
          </a:prstGeom>
          <a:noFill/>
          <a:ln/>
        </p:spPr>
        <p:txBody>
          <a:bodyPr wrap="square" lIns="0" tIns="0" rIns="0" bIns="0" rtlCol="0" anchor="t"/>
          <a:lstStyle/>
          <a:p>
            <a:pPr indent="0" marL="0">
              <a:buNone/>
            </a:pPr>
            <a:r>
              <a:rPr lang="en-US" sz="1800" b="1" dirty="0">
                <a:solidFill>
                  <a:schemeClr val="accent2"/>
                </a:solidFill>
              </a:rPr>
              <a:t>Conclusions</a:t>
            </a:r>
            <a:endParaRPr lang="en-US" sz="1800" dirty="0"/>
          </a:p>
        </p:txBody>
      </p:sp>
      <p:sp>
        <p:nvSpPr>
          <p:cNvPr id="5" name="text-223"/>
          <p:cNvSpPr txBox="1"/>
          <p:nvPr/>
        </p:nvSpPr>
        <p:spPr>
          <a:xfrm>
            <a:off x="548640" y="1691640"/>
            <a:ext cx="3931920" cy="29260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Validated CCM/DCM simulator and two tuned baselines</a:t>
            </a:r>
            <a:endParaRPr lang="en-US" sz="1500" dirty="0"/>
          </a:p>
          <a:p>
            <a:pPr marL="203200" indent="-203200">
              <a:spcAft>
                <a:spcPts val="1000"/>
              </a:spcAft>
              <a:buSzPct val="100000"/>
              <a:buChar char="•"/>
            </a:pPr>
            <a:r>
              <a:rPr lang="en-US" sz="1500" dirty="0">
                <a:solidFill>
                  <a:schemeClr val="bg1"/>
                </a:solidFill>
              </a:rPr>
              <a:t>Textbook SMC surface fails here; a current surface works</a:t>
            </a:r>
            <a:endParaRPr lang="en-US" sz="1500" dirty="0"/>
          </a:p>
          <a:p>
            <a:pPr marL="203200" indent="-203200">
              <a:spcAft>
                <a:spcPts val="1000"/>
              </a:spcAft>
              <a:buSzPct val="100000"/>
              <a:buChar char="•"/>
            </a:pPr>
            <a:r>
              <a:rPr lang="en-US" sz="1500" dirty="0">
                <a:solidFill>
                  <a:schemeClr val="bg1"/>
                </a:solidFill>
              </a:rPr>
              <a:t>RL tuning inside certified bounds is safe (0 trips) but its gains are small and mixed</a:t>
            </a:r>
            <a:endParaRPr lang="en-US" sz="1500" dirty="0"/>
          </a:p>
          <a:p>
            <a:pPr marL="203200" indent="-203200">
              <a:spcAft>
                <a:spcPts val="1000"/>
              </a:spcAft>
              <a:buSzPct val="100000"/>
              <a:buChar char="•"/>
            </a:pPr>
            <a:r>
              <a:rPr lang="en-US" sz="1500" dirty="0">
                <a:solidFill>
                  <a:schemeClr val="bg1"/>
                </a:solidFill>
              </a:rPr>
              <a:t>Unconstrained direct TD3 regulates tightly but oscillates the duty intermittently</a:t>
            </a:r>
            <a:endParaRPr lang="en-US" sz="1500" dirty="0"/>
          </a:p>
        </p:txBody>
      </p:sp>
      <p:sp>
        <p:nvSpPr>
          <p:cNvPr id="6" name="text-224"/>
          <p:cNvSpPr txBox="1"/>
          <p:nvPr/>
        </p:nvSpPr>
        <p:spPr>
          <a:xfrm>
            <a:off x="4754880" y="1280160"/>
            <a:ext cx="3840480" cy="320040"/>
          </a:xfrm>
          <a:prstGeom prst="rect">
            <a:avLst/>
          </a:prstGeom>
          <a:noFill/>
          <a:ln/>
        </p:spPr>
        <p:txBody>
          <a:bodyPr wrap="square" lIns="0" tIns="0" rIns="0" bIns="0" rtlCol="0" anchor="t"/>
          <a:lstStyle/>
          <a:p>
            <a:pPr indent="0" marL="0">
              <a:buNone/>
            </a:pPr>
            <a:r>
              <a:rPr lang="en-US" sz="1800" b="1" dirty="0">
                <a:solidFill>
                  <a:schemeClr val="accent2"/>
                </a:solidFill>
              </a:rPr>
              <a:t>Next steps</a:t>
            </a:r>
            <a:endParaRPr lang="en-US" sz="1800" dirty="0"/>
          </a:p>
        </p:txBody>
      </p:sp>
      <p:sp>
        <p:nvSpPr>
          <p:cNvPr id="7" name="text-225"/>
          <p:cNvSpPr txBox="1"/>
          <p:nvPr/>
        </p:nvSpPr>
        <p:spPr>
          <a:xfrm>
            <a:off x="4754880" y="1691640"/>
            <a:ext cx="3840480" cy="29260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More seeds and longer training</a:t>
            </a:r>
            <a:endParaRPr lang="en-US" sz="1500" dirty="0"/>
          </a:p>
          <a:p>
            <a:pPr marL="203200" indent="-203200">
              <a:spcAft>
                <a:spcPts val="1000"/>
              </a:spcAft>
              <a:buSzPct val="100000"/>
              <a:buChar char="•"/>
            </a:pPr>
            <a:r>
              <a:rPr lang="en-US" sz="1500" dirty="0">
                <a:solidFill>
                  <a:schemeClr val="bg1"/>
                </a:solidFill>
              </a:rPr>
              <a:t>Penalise duty oscillation in the reward</a:t>
            </a:r>
            <a:endParaRPr lang="en-US" sz="1500" dirty="0"/>
          </a:p>
          <a:p>
            <a:pPr marL="203200" indent="-203200">
              <a:spcAft>
                <a:spcPts val="1000"/>
              </a:spcAft>
              <a:buSzPct val="100000"/>
              <a:buChar char="•"/>
            </a:pPr>
            <a:r>
              <a:rPr lang="en-US" sz="1500" dirty="0">
                <a:solidFill>
                  <a:schemeClr val="bg1"/>
                </a:solidFill>
              </a:rPr>
              <a:t>Add ESR, diode drop and inductor resistance; re-derive the bounds</a:t>
            </a:r>
            <a:endParaRPr lang="en-US" sz="1500" dirty="0"/>
          </a:p>
          <a:p>
            <a:pPr marL="203200" indent="-203200">
              <a:spcAft>
                <a:spcPts val="1000"/>
              </a:spcAft>
              <a:buSzPct val="100000"/>
              <a:buChar char="•"/>
            </a:pPr>
            <a:r>
              <a:rPr lang="en-US" sz="1500" dirty="0">
                <a:solidFill>
                  <a:schemeClr val="bg1"/>
                </a:solidFill>
              </a:rPr>
              <a:t>Hardware-in-the-loop test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Appendix: reproduce everything</a:t>
            </a:r>
            <a:endParaRPr lang="en-US" sz="3000" dirty="0"/>
          </a:p>
        </p:txBody>
      </p:sp>
      <p:sp>
        <p:nvSpPr>
          <p:cNvPr id="4" name="card-226"/>
          <p:cNvSpPr/>
          <p:nvPr/>
        </p:nvSpPr>
        <p:spPr>
          <a:xfrm>
            <a:off x="457200" y="1188720"/>
            <a:ext cx="8229600" cy="2834640"/>
          </a:xfrm>
          <a:prstGeom prst="roundRect">
            <a:avLst>
              <a:gd name="adj" fmla="val 3226"/>
            </a:avLst>
          </a:prstGeom>
          <a:solidFill>
            <a:schemeClr val="tx2"/>
          </a:solidFill>
          <a:ln/>
        </p:spPr>
      </p:sp>
      <p:sp>
        <p:nvSpPr>
          <p:cNvPr id="5" name="text-227"/>
          <p:cNvSpPr txBox="1"/>
          <p:nvPr/>
        </p:nvSpPr>
        <p:spPr>
          <a:xfrm>
            <a:off x="685800" y="1371600"/>
            <a:ext cx="5120640" cy="274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pytest -q tests</a:t>
            </a:r>
            <a:endParaRPr lang="en-US" sz="1200" dirty="0"/>
          </a:p>
        </p:txBody>
      </p:sp>
      <p:sp>
        <p:nvSpPr>
          <p:cNvPr id="6" name="text-228"/>
          <p:cNvSpPr txBox="1"/>
          <p:nvPr/>
        </p:nvSpPr>
        <p:spPr>
          <a:xfrm>
            <a:off x="5943600" y="1371600"/>
            <a:ext cx="2560320" cy="274320"/>
          </a:xfrm>
          <a:prstGeom prst="rect">
            <a:avLst/>
          </a:prstGeom>
          <a:noFill/>
          <a:ln/>
        </p:spPr>
        <p:txBody>
          <a:bodyPr wrap="square" lIns="0" tIns="0" rIns="0" bIns="0" rtlCol="0" anchor="t"/>
          <a:lstStyle/>
          <a:p>
            <a:pPr indent="0" marL="0">
              <a:buNone/>
            </a:pPr>
            <a:r>
              <a:rPr lang="en-US" sz="1300" dirty="0">
                <a:solidFill>
                  <a:schemeClr val="accent2"/>
                </a:solidFill>
              </a:rPr>
              <a:t>228 tests</a:t>
            </a:r>
            <a:endParaRPr lang="en-US" sz="1300" dirty="0"/>
          </a:p>
        </p:txBody>
      </p:sp>
      <p:sp>
        <p:nvSpPr>
          <p:cNvPr id="7" name="text-229"/>
          <p:cNvSpPr txBox="1"/>
          <p:nvPr/>
        </p:nvSpPr>
        <p:spPr>
          <a:xfrm>
            <a:off x="685800" y="1801368"/>
            <a:ext cx="5120640" cy="274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python run_converter_validation.py</a:t>
            </a:r>
            <a:endParaRPr lang="en-US" sz="1200" dirty="0"/>
          </a:p>
        </p:txBody>
      </p:sp>
      <p:sp>
        <p:nvSpPr>
          <p:cNvPr id="8" name="text-230"/>
          <p:cNvSpPr txBox="1"/>
          <p:nvPr/>
        </p:nvSpPr>
        <p:spPr>
          <a:xfrm>
            <a:off x="5943600" y="1801368"/>
            <a:ext cx="2560320" cy="274320"/>
          </a:xfrm>
          <a:prstGeom prst="rect">
            <a:avLst/>
          </a:prstGeom>
          <a:noFill/>
          <a:ln/>
        </p:spPr>
        <p:txBody>
          <a:bodyPr wrap="square" lIns="0" tIns="0" rIns="0" bIns="0" rtlCol="0" anchor="t"/>
          <a:lstStyle/>
          <a:p>
            <a:pPr indent="0" marL="0">
              <a:buNone/>
            </a:pPr>
            <a:r>
              <a:rPr lang="en-US" sz="1300" dirty="0">
                <a:solidFill>
                  <a:schemeClr val="accent2"/>
                </a:solidFill>
              </a:rPr>
              <a:t>simulator checks</a:t>
            </a:r>
            <a:endParaRPr lang="en-US" sz="1300" dirty="0"/>
          </a:p>
        </p:txBody>
      </p:sp>
      <p:sp>
        <p:nvSpPr>
          <p:cNvPr id="9" name="text-231"/>
          <p:cNvSpPr txBox="1"/>
          <p:nvPr/>
        </p:nvSpPr>
        <p:spPr>
          <a:xfrm>
            <a:off x="685800" y="2231136"/>
            <a:ext cx="5120640" cy="274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python experiments/run_pid.py</a:t>
            </a:r>
            <a:endParaRPr lang="en-US" sz="1200" dirty="0"/>
          </a:p>
        </p:txBody>
      </p:sp>
      <p:sp>
        <p:nvSpPr>
          <p:cNvPr id="10" name="text-232"/>
          <p:cNvSpPr txBox="1"/>
          <p:nvPr/>
        </p:nvSpPr>
        <p:spPr>
          <a:xfrm>
            <a:off x="5943600" y="2231136"/>
            <a:ext cx="2560320" cy="274320"/>
          </a:xfrm>
          <a:prstGeom prst="rect">
            <a:avLst/>
          </a:prstGeom>
          <a:noFill/>
          <a:ln/>
        </p:spPr>
        <p:txBody>
          <a:bodyPr wrap="square" lIns="0" tIns="0" rIns="0" bIns="0" rtlCol="0" anchor="t"/>
          <a:lstStyle/>
          <a:p>
            <a:pPr indent="0" marL="0">
              <a:buNone/>
            </a:pPr>
            <a:r>
              <a:rPr lang="en-US" sz="1300" dirty="0">
                <a:solidFill>
                  <a:schemeClr val="accent2"/>
                </a:solidFill>
              </a:rPr>
              <a:t>fixed PID</a:t>
            </a:r>
            <a:endParaRPr lang="en-US" sz="1300" dirty="0"/>
          </a:p>
        </p:txBody>
      </p:sp>
      <p:sp>
        <p:nvSpPr>
          <p:cNvPr id="11" name="text-233"/>
          <p:cNvSpPr txBox="1"/>
          <p:nvPr/>
        </p:nvSpPr>
        <p:spPr>
          <a:xfrm>
            <a:off x="685800" y="2660904"/>
            <a:ext cx="5120640" cy="274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python experiments/run_smc.py</a:t>
            </a:r>
            <a:endParaRPr lang="en-US" sz="1200" dirty="0"/>
          </a:p>
        </p:txBody>
      </p:sp>
      <p:sp>
        <p:nvSpPr>
          <p:cNvPr id="12" name="text-234"/>
          <p:cNvSpPr txBox="1"/>
          <p:nvPr/>
        </p:nvSpPr>
        <p:spPr>
          <a:xfrm>
            <a:off x="5943600" y="2660904"/>
            <a:ext cx="2560320" cy="274320"/>
          </a:xfrm>
          <a:prstGeom prst="rect">
            <a:avLst/>
          </a:prstGeom>
          <a:noFill/>
          <a:ln/>
        </p:spPr>
        <p:txBody>
          <a:bodyPr wrap="square" lIns="0" tIns="0" rIns="0" bIns="0" rtlCol="0" anchor="t"/>
          <a:lstStyle/>
          <a:p>
            <a:pPr indent="0" marL="0">
              <a:buNone/>
            </a:pPr>
            <a:r>
              <a:rPr lang="en-US" sz="1300" dirty="0">
                <a:solidFill>
                  <a:schemeClr val="accent2"/>
                </a:solidFill>
              </a:rPr>
              <a:t>fixed SMC + comparison</a:t>
            </a:r>
            <a:endParaRPr lang="en-US" sz="1300" dirty="0"/>
          </a:p>
        </p:txBody>
      </p:sp>
      <p:sp>
        <p:nvSpPr>
          <p:cNvPr id="13" name="text-235"/>
          <p:cNvSpPr txBox="1"/>
          <p:nvPr/>
        </p:nvSpPr>
        <p:spPr>
          <a:xfrm>
            <a:off x="685800" y="3090672"/>
            <a:ext cx="5120640" cy="274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python experiments/train_final.py --tag final --jobs 3</a:t>
            </a:r>
            <a:endParaRPr lang="en-US" sz="1200" dirty="0"/>
          </a:p>
        </p:txBody>
      </p:sp>
      <p:sp>
        <p:nvSpPr>
          <p:cNvPr id="14" name="text-236"/>
          <p:cNvSpPr txBox="1"/>
          <p:nvPr/>
        </p:nvSpPr>
        <p:spPr>
          <a:xfrm>
            <a:off x="5943600" y="3090672"/>
            <a:ext cx="2560320" cy="274320"/>
          </a:xfrm>
          <a:prstGeom prst="rect">
            <a:avLst/>
          </a:prstGeom>
          <a:noFill/>
          <a:ln/>
        </p:spPr>
        <p:txBody>
          <a:bodyPr wrap="square" lIns="0" tIns="0" rIns="0" bIns="0" rtlCol="0" anchor="t"/>
          <a:lstStyle/>
          <a:p>
            <a:pPr indent="0" marL="0">
              <a:buNone/>
            </a:pPr>
            <a:r>
              <a:rPr lang="en-US" sz="1300" dirty="0">
                <a:solidFill>
                  <a:schemeClr val="accent2"/>
                </a:solidFill>
              </a:rPr>
              <a:t>9 RL runs, about 19 min</a:t>
            </a:r>
            <a:endParaRPr lang="en-US" sz="1300" dirty="0"/>
          </a:p>
        </p:txBody>
      </p:sp>
      <p:sp>
        <p:nvSpPr>
          <p:cNvPr id="15" name="text-237"/>
          <p:cNvSpPr txBox="1"/>
          <p:nvPr/>
        </p:nvSpPr>
        <p:spPr>
          <a:xfrm>
            <a:off x="685800" y="3520440"/>
            <a:ext cx="5120640" cy="274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python experiments/final_evaluation.py --tag final</a:t>
            </a:r>
            <a:endParaRPr lang="en-US" sz="1200" dirty="0"/>
          </a:p>
        </p:txBody>
      </p:sp>
      <p:sp>
        <p:nvSpPr>
          <p:cNvPr id="16" name="text-238"/>
          <p:cNvSpPr txBox="1"/>
          <p:nvPr/>
        </p:nvSpPr>
        <p:spPr>
          <a:xfrm>
            <a:off x="5943600" y="3520440"/>
            <a:ext cx="2560320" cy="274320"/>
          </a:xfrm>
          <a:prstGeom prst="rect">
            <a:avLst/>
          </a:prstGeom>
          <a:noFill/>
          <a:ln/>
        </p:spPr>
        <p:txBody>
          <a:bodyPr wrap="square" lIns="0" tIns="0" rIns="0" bIns="0" rtlCol="0" anchor="t"/>
          <a:lstStyle/>
          <a:p>
            <a:pPr indent="0" marL="0">
              <a:buNone/>
            </a:pPr>
            <a:r>
              <a:rPr lang="en-US" sz="1300" dirty="0">
                <a:solidFill>
                  <a:schemeClr val="accent2"/>
                </a:solidFill>
              </a:rPr>
              <a:t>CSV, report and plots</a:t>
            </a:r>
            <a:endParaRPr lang="en-US" sz="1300" dirty="0"/>
          </a:p>
        </p:txBody>
      </p:sp>
      <p:sp>
        <p:nvSpPr>
          <p:cNvPr id="17" name="text-239"/>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dirty="0">
                <a:solidFill>
                  <a:schemeClr val="tx1"/>
                </a:solidFill>
              </a:rPr>
              <a:t>All parameters live in config.py · results in results/final/ · models in models/</a:t>
            </a:r>
            <a:endParaRPr lang="en-US" sz="14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Boost Control">
  <a:themeElements>
    <a:clrScheme name="Boost Control">
      <a:dk1>
        <a:srgbClr val="14232B"/>
      </a:dk1>
      <a:lt1>
        <a:srgbClr val="FFFFFF"/>
      </a:lt1>
      <a:dk2>
        <a:srgbClr val="0F3B4C"/>
      </a:dk2>
      <a:lt2>
        <a:srgbClr val="EAF1F3"/>
      </a:lt2>
      <a:accent1>
        <a:srgbClr val="0E7C86"/>
      </a:accent1>
      <a:accent2>
        <a:srgbClr val="E8A317"/>
      </a:accent2>
      <a:accent3>
        <a:srgbClr val="C8553D"/>
      </a:accent3>
      <a:accent4>
        <a:srgbClr val="5B7C99"/>
      </a:accent4>
      <a:accent5>
        <a:srgbClr val="6A994E"/>
      </a:accent5>
      <a:accent6>
        <a:srgbClr val="6B7A85"/>
      </a:accent6>
      <a:hlink>
        <a:srgbClr val="0E7C86"/>
      </a:hlink>
      <a:folHlink>
        <a:srgbClr val="5B7C99"/>
      </a:folHlink>
    </a:clrScheme>
    <a:fontScheme name="Boost Contr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PID and Sliding-Mode Control of a DC-DC Boost Converter Using Reinforcement Learning</dc:title>
  <dc:subject>PptxGenJS Presentation</dc:subject>
  <dc:creator>Reththika Murugadasan</dc:creator>
  <cp:lastModifiedBy>Reththika Murugadasan</cp:lastModifiedBy>
  <cp:revision>1</cp:revision>
  <dcterms:created xsi:type="dcterms:W3CDTF">2026-10-03T08:36:01Z</dcterms:created>
  <dcterms:modified xsi:type="dcterms:W3CDTF">2026-10-03T08:36:01Z</dcterms:modified>
</cp:coreProperties>
</file>